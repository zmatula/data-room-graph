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sldIdLst>
    <p:sldId id="325" r:id="rId6"/>
  </p:sldIdLst>
  <p:sldSz cx="9144000" cy="6858000" type="screen4x3"/>
  <p:notesSz cx="7010400" cy="9236075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8C45"/>
    <a:srgbClr val="35353C"/>
    <a:srgbClr val="3950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9" autoAdjust="0"/>
    <p:restoredTop sz="94660"/>
  </p:normalViewPr>
  <p:slideViewPr>
    <p:cSldViewPr snapToGrid="0">
      <p:cViewPr>
        <p:scale>
          <a:sx n="100" d="100"/>
          <a:sy n="100" d="100"/>
        </p:scale>
        <p:origin x="183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iraj Sohail" userId="5f70b6b8-9d0f-47b8-b956-59d482a76654" providerId="ADAL" clId="{76DA92E1-D2ED-4546-ABF6-43E37EE34408}"/>
    <pc:docChg chg="modSld">
      <pc:chgData name="Eiraj Sohail" userId="5f70b6b8-9d0f-47b8-b956-59d482a76654" providerId="ADAL" clId="{76DA92E1-D2ED-4546-ABF6-43E37EE34408}" dt="2026-01-18T17:30:45.793" v="91" actId="20577"/>
      <pc:docMkLst>
        <pc:docMk/>
      </pc:docMkLst>
      <pc:sldChg chg="modSp mod">
        <pc:chgData name="Eiraj Sohail" userId="5f70b6b8-9d0f-47b8-b956-59d482a76654" providerId="ADAL" clId="{76DA92E1-D2ED-4546-ABF6-43E37EE34408}" dt="2026-01-18T17:30:45.793" v="91" actId="20577"/>
        <pc:sldMkLst>
          <pc:docMk/>
          <pc:sldMk cId="3591562218" sldId="325"/>
        </pc:sldMkLst>
        <pc:graphicFrameChg chg="modGraphic">
          <ac:chgData name="Eiraj Sohail" userId="5f70b6b8-9d0f-47b8-b956-59d482a76654" providerId="ADAL" clId="{76DA92E1-D2ED-4546-ABF6-43E37EE34408}" dt="2026-01-18T17:30:45.793" v="91" actId="20577"/>
          <ac:graphicFrameMkLst>
            <pc:docMk/>
            <pc:sldMk cId="3591562218" sldId="325"/>
            <ac:graphicFrameMk id="3" creationId="{610F3911-AE23-7F88-4C20-5D1BB8097BEE}"/>
          </ac:graphicFrameMkLst>
        </pc:graphicFrameChg>
      </pc:sldChg>
    </pc:docChg>
  </pc:docChgLst>
  <pc:docChgLst>
    <pc:chgData name="Zachary Doan" userId="57ea5409-1e15-4668-898f-d5d98f84a5d6" providerId="ADAL" clId="{63C32BEA-EE41-4BEF-A7A3-365C4F223362}"/>
    <pc:docChg chg="modSld">
      <pc:chgData name="Zachary Doan" userId="57ea5409-1e15-4668-898f-d5d98f84a5d6" providerId="ADAL" clId="{63C32BEA-EE41-4BEF-A7A3-365C4F223362}" dt="2025-12-28T22:41:39.826" v="0" actId="113"/>
      <pc:docMkLst>
        <pc:docMk/>
      </pc:docMkLst>
      <pc:sldChg chg="modSp mod">
        <pc:chgData name="Zachary Doan" userId="57ea5409-1e15-4668-898f-d5d98f84a5d6" providerId="ADAL" clId="{63C32BEA-EE41-4BEF-A7A3-365C4F223362}" dt="2025-12-28T22:41:39.826" v="0" actId="113"/>
        <pc:sldMkLst>
          <pc:docMk/>
          <pc:sldMk cId="3591562218" sldId="325"/>
        </pc:sldMkLst>
        <pc:graphicFrameChg chg="modGraphic">
          <ac:chgData name="Zachary Doan" userId="57ea5409-1e15-4668-898f-d5d98f84a5d6" providerId="ADAL" clId="{63C32BEA-EE41-4BEF-A7A3-365C4F223362}" dt="2025-12-28T22:41:39.826" v="0" actId="113"/>
          <ac:graphicFrameMkLst>
            <pc:docMk/>
            <pc:sldMk cId="3591562218" sldId="325"/>
            <ac:graphicFrameMk id="3" creationId="{610F3911-AE23-7F88-4C20-5D1BB8097BEE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503A9-D11B-494C-9D2C-9766904BE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ED352D-5C15-51AC-0C6D-D9C0AEF92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7090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Do not remove" hidden="1">
            <a:extLst>
              <a:ext uri="{FF2B5EF4-FFF2-40B4-BE49-F238E27FC236}">
                <a16:creationId xmlns:a16="http://schemas.microsoft.com/office/drawing/2014/main" id="{C8CE77F4-2E92-708F-1173-2975A206871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1" y="0"/>
            <a:ext cx="9525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BA4C36-E615-98F9-31FA-01E77496C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7886700" cy="759012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BE4E7-71F0-5852-44D5-8C760511D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8354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08AA-0FB5-9B8C-C750-97E0A6AA4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086E0-DEA0-7DD1-F562-41BA1BDFB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2605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92EBF-F666-F8C0-CA73-CF35A7D4C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7886700" cy="72259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9E12E-8486-0911-D48D-75089A4106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838CD8-28DE-6C16-C262-E8E890A4A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3711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BD4B8-0565-3162-7D46-72B9D97DA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615016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CCAD8-D121-BC58-0D77-87B31CF4D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A7E5C4-FA9A-5485-FA11-C1B1650A93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B5369B-0523-9765-8C8B-83BFAF7C77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C7331-3183-86B6-8C0C-C43E4CB40C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7343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1ECAB-214A-D594-6865-65E53DD9C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7886700" cy="644899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1164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6391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ED690-92CF-16C1-8851-67AF53643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FEB91-1428-0790-F6A8-EE28D9741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73E3D-75A8-EE4D-473C-F50A38D73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7962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D8DA6-B99E-75BA-A4F4-9324A7C4F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C475C2-1426-C853-FAA2-FB8D932C34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FD0967-59B4-5B11-FAFB-6981E0774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4126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3EC1F-97A3-FFD0-F5BD-C649588EF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638922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494EE-0950-2AEF-6042-82448BBC3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777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ED59B9-60A1-8599-DDB7-C17127B420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D6C37E-2C4D-7F12-8319-123C85E54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84059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262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o not remove" hidden="1">
            <a:extLst>
              <a:ext uri="{FF2B5EF4-FFF2-40B4-BE49-F238E27FC236}">
                <a16:creationId xmlns:a16="http://schemas.microsoft.com/office/drawing/2014/main" id="{38DEDDBB-7C39-ECD2-7CD2-E0CF7732159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15719"/>
            <a:ext cx="7886700" cy="6030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852EEA-FA85-7A9E-81E9-7FF9AD4404D4}"/>
              </a:ext>
            </a:extLst>
          </p:cNvPr>
          <p:cNvCxnSpPr/>
          <p:nvPr userDrawn="1"/>
        </p:nvCxnSpPr>
        <p:spPr>
          <a:xfrm>
            <a:off x="626888" y="818781"/>
            <a:ext cx="7909275" cy="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784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DBA89-0DA8-AA85-64C0-AE0F843CC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AD2474-3B3F-4661-1725-A7BFE7F58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4D9B6C-950A-F7FE-E98A-F0F442DB6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BFB74-4D96-1DC9-9988-2D1DD27C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2168EA2-FD6E-4AB6-95C8-7A0D7C80943C}"/>
              </a:ext>
            </a:extLst>
          </p:cNvPr>
          <p:cNvCxnSpPr/>
          <p:nvPr userDrawn="1"/>
        </p:nvCxnSpPr>
        <p:spPr>
          <a:xfrm>
            <a:off x="626888" y="1366839"/>
            <a:ext cx="790927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5D27CA0-940E-6245-A697-3CE229D9EE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6888" y="2228524"/>
            <a:ext cx="3868912" cy="12833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8FECC5F-F1BF-7BC6-A3C8-37BBE10F33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6888" y="1778002"/>
            <a:ext cx="3868911" cy="914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E8C1351B-3678-B58B-2F4B-37B2824456C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67252" y="2248369"/>
            <a:ext cx="3868912" cy="128335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BEAF2443-66E7-D40D-5458-2E3EC8D817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52" y="1797847"/>
            <a:ext cx="3868911" cy="914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B8D3A15C-3E24-0557-F6CC-A67F20C2637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6887" y="4644699"/>
            <a:ext cx="3868912" cy="12833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B07626A4-533C-21DE-220F-B40A6C1CE0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887" y="4194177"/>
            <a:ext cx="3868911" cy="914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1BFBE854-DF0B-23BC-118B-FA531EB66D7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667252" y="4661367"/>
            <a:ext cx="3868912" cy="12833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A120711E-5643-8F3F-4D83-E3DD2BD640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7252" y="4210845"/>
            <a:ext cx="3868911" cy="914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928360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D0535DEF-82BA-8D66-408E-9CC4EC77F3C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8674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0692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8225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6919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0941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2742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1879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8046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651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CEE2BF-ED9D-CD5B-ACDD-77C824A92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7886700" cy="603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121CD-7C45-58F6-F2D2-4BAFE1A58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CC490-95F5-DABC-BAAE-532CAA82D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3691" y="6416118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ECE8DE18-2809-8C78-D2E0-337F8B5C139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53" y="6416115"/>
            <a:ext cx="1757873" cy="3591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52BC33-6528-64C9-0A8C-6FD354647922}"/>
              </a:ext>
            </a:extLst>
          </p:cNvPr>
          <p:cNvSpPr txBox="1"/>
          <p:nvPr userDrawn="1"/>
        </p:nvSpPr>
        <p:spPr>
          <a:xfrm>
            <a:off x="6598684" y="6494792"/>
            <a:ext cx="23326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35353C"/>
                </a:solidFill>
              </a:rPr>
              <a:t>Privileged and Confidential Information</a:t>
            </a:r>
          </a:p>
        </p:txBody>
      </p:sp>
    </p:spTree>
    <p:extLst>
      <p:ext uri="{BB962C8B-B14F-4D97-AF65-F5344CB8AC3E}">
        <p14:creationId xmlns:p14="http://schemas.microsoft.com/office/powerpoint/2010/main" val="2183137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Montserrat SemiBold" pitchFamily="2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Nunito Sans 7pt" pitchFamily="2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unito Sans 7pt" pitchFamily="2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Nunito Sans 7pt" pitchFamily="2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Nunito Sans 7pt" pitchFamily="2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Nunito Sans 7pt" pitchFamily="2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59454955-D0E4-84C6-9B87-65BB3CE75EB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53" y="6416115"/>
            <a:ext cx="1757873" cy="3591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99D80B-B31E-1029-340B-2009CE6A8A4B}"/>
              </a:ext>
            </a:extLst>
          </p:cNvPr>
          <p:cNvSpPr txBox="1"/>
          <p:nvPr userDrawn="1"/>
        </p:nvSpPr>
        <p:spPr>
          <a:xfrm>
            <a:off x="6598684" y="6494792"/>
            <a:ext cx="23326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35353C"/>
                </a:solidFill>
              </a:rPr>
              <a:t>Privileged and Confidential Information</a:t>
            </a:r>
          </a:p>
        </p:txBody>
      </p:sp>
    </p:spTree>
    <p:extLst>
      <p:ext uri="{BB962C8B-B14F-4D97-AF65-F5344CB8AC3E}">
        <p14:creationId xmlns:p14="http://schemas.microsoft.com/office/powerpoint/2010/main" val="4158330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A460C-F6E4-F729-B498-BDDABE527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47510-BECB-13D2-2688-078FCAE5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300" dirty="0">
                <a:latin typeface="+mn-lt"/>
              </a:rPr>
              <a:t>Level 1 Brief: EnCap Investments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0F3911-AE23-7F88-4C20-5D1BB8097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295938"/>
              </p:ext>
            </p:extLst>
          </p:nvPr>
        </p:nvGraphicFramePr>
        <p:xfrm>
          <a:off x="628650" y="927860"/>
          <a:ext cx="7999783" cy="5309889"/>
        </p:xfrm>
        <a:graphic>
          <a:graphicData uri="http://schemas.openxmlformats.org/drawingml/2006/table">
            <a:tbl>
              <a:tblPr/>
              <a:tblGrid>
                <a:gridCol w="1758406">
                  <a:extLst>
                    <a:ext uri="{9D8B030D-6E8A-4147-A177-3AD203B41FA5}">
                      <a16:colId xmlns:a16="http://schemas.microsoft.com/office/drawing/2014/main" val="1685393209"/>
                    </a:ext>
                  </a:extLst>
                </a:gridCol>
                <a:gridCol w="6241377">
                  <a:extLst>
                    <a:ext uri="{9D8B030D-6E8A-4147-A177-3AD203B41FA5}">
                      <a16:colId xmlns:a16="http://schemas.microsoft.com/office/drawing/2014/main" val="2790180255"/>
                    </a:ext>
                  </a:extLst>
                </a:gridCol>
              </a:tblGrid>
              <a:tr h="23222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Level 1 - Pre-Meeting Brief</a:t>
                      </a: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505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50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7101"/>
                  </a:ext>
                </a:extLst>
              </a:tr>
              <a:tr h="278156">
                <a:tc>
                  <a:txBody>
                    <a:bodyPr/>
                    <a:lstStyle/>
                    <a:p>
                      <a:pPr marL="0" indent="60325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Prepared by:</a:t>
                      </a: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ZD, Reviewed by ES</a:t>
                      </a: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569770"/>
                  </a:ext>
                </a:extLst>
              </a:tr>
              <a:tr h="248017">
                <a:tc>
                  <a:txBody>
                    <a:bodyPr/>
                    <a:lstStyle/>
                    <a:p>
                      <a:pPr marL="0" indent="60325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Name / Type:</a:t>
                      </a: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EnCap Upstream Fund XII (Fund)</a:t>
                      </a: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453607"/>
                  </a:ext>
                </a:extLst>
              </a:tr>
              <a:tr h="281432">
                <a:tc>
                  <a:txBody>
                    <a:bodyPr/>
                    <a:lstStyle/>
                    <a:p>
                      <a:pPr marL="0" indent="60325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Asset Class:</a:t>
                      </a: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Energy Private Equity</a:t>
                      </a: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338367"/>
                  </a:ext>
                </a:extLst>
              </a:tr>
              <a:tr h="361285">
                <a:tc>
                  <a:txBody>
                    <a:bodyPr/>
                    <a:lstStyle/>
                    <a:p>
                      <a:pPr marL="0" indent="60325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Source:</a:t>
                      </a: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SL and ZM Relationship</a:t>
                      </a: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5515509"/>
                  </a:ext>
                </a:extLst>
              </a:tr>
              <a:tr h="792040">
                <a:tc>
                  <a:txBody>
                    <a:bodyPr/>
                    <a:lstStyle/>
                    <a:p>
                      <a:pPr marL="0" indent="60325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What / Description:</a:t>
                      </a: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EnCap Fund XII provides capital and works with existing management teams in order to develop strong performing O&amp;G assets into attractive acquisitions for large strategic buyers. They build value through property acquisitions, leasehold acquisitions, and acquiring interests in </a:t>
                      </a: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O&amp;G minerals </a:t>
                      </a: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&amp; royalties. </a:t>
                      </a: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315356"/>
                  </a:ext>
                </a:extLst>
              </a:tr>
              <a:tr h="258197">
                <a:tc>
                  <a:txBody>
                    <a:bodyPr/>
                    <a:lstStyle/>
                    <a:p>
                      <a:pPr marL="0" indent="60325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Why / SGG Alignment:</a:t>
                      </a: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Energy</a:t>
                      </a: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53158"/>
                  </a:ext>
                </a:extLst>
              </a:tr>
              <a:tr h="353024">
                <a:tc>
                  <a:txBody>
                    <a:bodyPr/>
                    <a:lstStyle/>
                    <a:p>
                      <a:pPr marL="0" indent="60325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Who / Credible Team?</a:t>
                      </a: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Established senior leadership with an average ~20 years at EnCap and strong Energy backgrounds</a:t>
                      </a: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9160865"/>
                  </a:ext>
                </a:extLst>
              </a:tr>
              <a:tr h="339206">
                <a:tc>
                  <a:txBody>
                    <a:bodyPr/>
                    <a:lstStyle/>
                    <a:p>
                      <a:pPr marL="0" indent="60325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When / Size Availability :</a:t>
                      </a: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18872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Target: $4.5B, Closed on $3.5B as of 2024 </a:t>
                      </a: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897992"/>
                  </a:ext>
                </a:extLst>
              </a:tr>
              <a:tr h="282363">
                <a:tc>
                  <a:txBody>
                    <a:bodyPr/>
                    <a:lstStyle/>
                    <a:p>
                      <a:pPr marL="0" indent="60325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Why Not / Initial Hurdles</a:t>
                      </a: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18872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Need to diligence value creation, sourcing ability, and exit strategy</a:t>
                      </a: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0992595"/>
                  </a:ext>
                </a:extLst>
              </a:tr>
              <a:tr h="1063558">
                <a:tc>
                  <a:txBody>
                    <a:bodyPr/>
                    <a:lstStyle/>
                    <a:p>
                      <a:pPr marL="55563" indent="4763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Value-add? / Historical Performance:</a:t>
                      </a: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Upstream Fund XI – 2017, $7B, 22.2% net IRR</a:t>
                      </a:r>
                    </a:p>
                    <a:p>
                      <a:pPr marL="576072" lvl="1" indent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MSCI Natural Resources Benchmark: 9.2% median IRR, </a:t>
                      </a:r>
                      <a:r>
                        <a:rPr lang="en-US" sz="1200" b="1" i="1" u="sng" strike="noStrike" kern="1200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22.2% Alpha</a:t>
                      </a:r>
                    </a:p>
                    <a:p>
                      <a:pPr marL="118872" indent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Upstream Fund X – 2015, $6.5B, 16.4% net IRR</a:t>
                      </a:r>
                    </a:p>
                    <a:p>
                      <a:pPr marL="576072" lvl="1" indent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MSCI Natural Resources Benchmark: 8.0% median IRR, </a:t>
                      </a:r>
                      <a:r>
                        <a:rPr lang="en-US" sz="1200" b="1" i="1" u="sng" strike="noStrike" kern="1200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8.4% Alpha</a:t>
                      </a:r>
                    </a:p>
                    <a:p>
                      <a:pPr marL="118872" indent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Upstream Fund IX – 2013, $5B, 10.9% net IRR</a:t>
                      </a:r>
                    </a:p>
                    <a:p>
                      <a:pPr marL="576072" lvl="1" indent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MSCI Natural Resources Benchmark: 3.7% median IRR, </a:t>
                      </a:r>
                      <a:r>
                        <a:rPr lang="en-US" sz="1200" b="1" i="1" u="sng" strike="noStrike" kern="1200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7.2% Alpha</a:t>
                      </a: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8419"/>
                  </a:ext>
                </a:extLst>
              </a:tr>
              <a:tr h="337586">
                <a:tc gridSpan="2">
                  <a:txBody>
                    <a:bodyPr/>
                    <a:lstStyle/>
                    <a:p>
                      <a:pPr marL="118872" indent="0" algn="l" fontAlgn="ctr"/>
                      <a:r>
                        <a:rPr lang="en-US" sz="12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CIO/Investment Team Review</a:t>
                      </a: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8C4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8C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970273"/>
                  </a:ext>
                </a:extLst>
              </a:tr>
              <a:tr h="442650">
                <a:tc>
                  <a:txBody>
                    <a:bodyPr/>
                    <a:lstStyle/>
                    <a:p>
                      <a:pPr marL="0" indent="53975" algn="l" fontAlgn="ctr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Initial Recommendation:</a:t>
                      </a: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80%: Very interested, would like to move this ahead of other things</a:t>
                      </a:r>
                    </a:p>
                  </a:txBody>
                  <a:tcPr marL="6427" marR="6427" marT="6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883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15622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FLYSHEET_STYL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b6379d-5402-4ed7-9167-0c02804ceeec" xsi:nil="true"/>
    <lcf76f155ced4ddcb4097134ff3c332f xmlns="16c4b767-81a9-4964-9cba-5e0dcfc5f91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B04DF9C75CAB4DAB32342A81611457" ma:contentTypeVersion="16" ma:contentTypeDescription="Create a new document." ma:contentTypeScope="" ma:versionID="1eea900a64deb794cdb99b5f2532b621">
  <xsd:schema xmlns:xsd="http://www.w3.org/2001/XMLSchema" xmlns:xs="http://www.w3.org/2001/XMLSchema" xmlns:p="http://schemas.microsoft.com/office/2006/metadata/properties" xmlns:ns2="bcb6379d-5402-4ed7-9167-0c02804ceeec" xmlns:ns3="16c4b767-81a9-4964-9cba-5e0dcfc5f91d" targetNamespace="http://schemas.microsoft.com/office/2006/metadata/properties" ma:root="true" ma:fieldsID="94c870accb11b529575280629ed7135f" ns2:_="" ns3:_="">
    <xsd:import namespace="bcb6379d-5402-4ed7-9167-0c02804ceeec"/>
    <xsd:import namespace="16c4b767-81a9-4964-9cba-5e0dcfc5f91d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SearchProperties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b6379d-5402-4ed7-9167-0c02804ceee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91661289-e8d5-4b89-a0fe-708881da4787}" ma:internalName="TaxCatchAll" ma:showField="CatchAllData" ma:web="bcb6379d-5402-4ed7-9167-0c02804ceee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4b767-81a9-4964-9cba-5e0dcfc5f9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b760cb6-fec5-4ee0-ad3b-5c6f6537d7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7B1AD0-312E-4405-9692-BD77A0CB459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C8E6ED-7500-4567-A217-CD8A015F7E85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elements/1.1/"/>
    <ds:schemaRef ds:uri="16c4b767-81a9-4964-9cba-5e0dcfc5f91d"/>
    <ds:schemaRef ds:uri="http://schemas.microsoft.com/office/2006/documentManagement/types"/>
    <ds:schemaRef ds:uri="http://purl.org/dc/dcmitype/"/>
    <ds:schemaRef ds:uri="bcb6379d-5402-4ed7-9167-0c02804ceeec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57AD24E-0F7D-4381-AC68-6991F73855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b6379d-5402-4ed7-9167-0c02804ceeec"/>
    <ds:schemaRef ds:uri="16c4b767-81a9-4964-9cba-5e0dcfc5f9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7172</TotalTime>
  <Words>262</Words>
  <Application>Microsoft Office PowerPoint</Application>
  <PresentationFormat>On-screen Show (4:3)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 Narrow</vt:lpstr>
      <vt:lpstr>Arial</vt:lpstr>
      <vt:lpstr>Calibri</vt:lpstr>
      <vt:lpstr>Calibri Light</vt:lpstr>
      <vt:lpstr>Montserrat SemiBold</vt:lpstr>
      <vt:lpstr>Nunito Sans 7pt</vt:lpstr>
      <vt:lpstr>Office Theme</vt:lpstr>
      <vt:lpstr>Office 2013 - 2022 Theme</vt:lpstr>
      <vt:lpstr>Level 1 Brief: EnCap Investments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Clayton Marcelle</dc:creator>
  <cp:lastModifiedBy>Eiraj Sohail</cp:lastModifiedBy>
  <cp:revision>118</cp:revision>
  <cp:lastPrinted>2025-05-08T21:56:46Z</cp:lastPrinted>
  <dcterms:created xsi:type="dcterms:W3CDTF">2023-10-02T01:53:58Z</dcterms:created>
  <dcterms:modified xsi:type="dcterms:W3CDTF">2026-01-18T17:30:49Z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0x01010035B04DF9C75CAB4DAB32342A81611457</vt:lpwstr>
  </property>
  <property fmtid="{D5CDD505-2E9C-101B-9397-08002B2CF9AE}" pid="3" name="MediaServiceImageTags">
    <vt:lpwstr/>
  </property>
</Properties>
</file>