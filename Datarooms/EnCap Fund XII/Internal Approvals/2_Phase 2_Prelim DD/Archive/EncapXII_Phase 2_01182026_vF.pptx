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4"/>
    <p:sldMasterId id="2147483660" r:id="rId25"/>
    <p:sldMasterId id="2147483673" r:id="rId26"/>
  </p:sldMasterIdLst>
  <p:notesMasterIdLst>
    <p:notesMasterId r:id="rId46"/>
  </p:notesMasterIdLst>
  <p:sldIdLst>
    <p:sldId id="469" r:id="rId27"/>
    <p:sldId id="475" r:id="rId28"/>
    <p:sldId id="434" r:id="rId29"/>
    <p:sldId id="435" r:id="rId30"/>
    <p:sldId id="473" r:id="rId31"/>
    <p:sldId id="436" r:id="rId32"/>
    <p:sldId id="437" r:id="rId33"/>
    <p:sldId id="474" r:id="rId34"/>
    <p:sldId id="295" r:id="rId35"/>
    <p:sldId id="451" r:id="rId36"/>
    <p:sldId id="481" r:id="rId37"/>
    <p:sldId id="479" r:id="rId38"/>
    <p:sldId id="476" r:id="rId39"/>
    <p:sldId id="477" r:id="rId40"/>
    <p:sldId id="478" r:id="rId41"/>
    <p:sldId id="480" r:id="rId42"/>
    <p:sldId id="482" r:id="rId43"/>
    <p:sldId id="483" r:id="rId44"/>
    <p:sldId id="484" r:id="rId45"/>
  </p:sldIdLst>
  <p:sldSz cx="9144000" cy="6858000" type="screen4x3"/>
  <p:notesSz cx="7026275" cy="9312275"/>
  <p:custDataLst>
    <p:custData r:id="rId5"/>
    <p:custData r:id="rId6"/>
    <p:custData r:id="rId7"/>
    <p:custData r:id="rId8"/>
    <p:custData r:id="rId9"/>
    <p:custData r:id="rId10"/>
    <p:custData r:id="rId11"/>
    <p:custData r:id="rId12"/>
    <p:custData r:id="rId13"/>
    <p:custData r:id="rId14"/>
    <p:custData r:id="rId15"/>
    <p:custData r:id="rId16"/>
    <p:custData r:id="rId17"/>
    <p:custData r:id="rId18"/>
    <p:custData r:id="rId19"/>
    <p:custData r:id="rId20"/>
    <p:custData r:id="rId21"/>
    <p:custData r:id="rId22"/>
    <p:custData r:id="rId23"/>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2DAD28E-1274-C98F-AB94-E78A4BCE35D6}" name="Matthew Lee" initials="ML" userId="S::Matthew.Lee@stonegardengroup.com::74a6527e-3994-4155-bdf5-72e63b6c56fc" providerId="AD"/>
  <p188:author id="{C3C179D0-7887-F6F7-3493-B30079E7295F}" name="Sam Levens" initials="SL" userId="S::sam@stonegardengroup.com::7961e168-9d68-41cf-98b1-b02eab61833c" providerId="AD"/>
  <p188:author id="{841FF5E6-2B6D-08EA-CAA2-C0C6FFE75F23}" name="Zachary Doan" initials="ZD" userId="S::ZDoan@stonegardengroup.com::57ea5409-1e15-4668-898f-d5d98f84a5d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8C45"/>
    <a:srgbClr val="6E8DB0"/>
    <a:srgbClr val="39505B"/>
    <a:srgbClr val="3535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867E54-CFC2-4164-AC51-7EAB1AFF9116}" v="5" dt="2026-01-18T17:54:16.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35" autoAdjust="0"/>
    <p:restoredTop sz="94660"/>
  </p:normalViewPr>
  <p:slideViewPr>
    <p:cSldViewPr snapToGrid="0">
      <p:cViewPr>
        <p:scale>
          <a:sx n="100" d="100"/>
          <a:sy n="100" d="100"/>
        </p:scale>
        <p:origin x="126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Master" Target="slideMasters/slideMaster3.xml"/><Relationship Id="rId39" Type="http://schemas.openxmlformats.org/officeDocument/2006/relationships/slide" Target="slides/slide13.xml"/><Relationship Id="rId21" Type="http://schemas.openxmlformats.org/officeDocument/2006/relationships/customXml" Target="../customXml/item21.xml"/><Relationship Id="rId34" Type="http://schemas.openxmlformats.org/officeDocument/2006/relationships/slide" Target="slides/slide8.xml"/><Relationship Id="rId42" Type="http://schemas.openxmlformats.org/officeDocument/2006/relationships/slide" Target="slides/slide16.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3.xml"/><Relationship Id="rId11" Type="http://schemas.openxmlformats.org/officeDocument/2006/relationships/customXml" Target="../customXml/item11.xml"/><Relationship Id="rId24" Type="http://schemas.openxmlformats.org/officeDocument/2006/relationships/slideMaster" Target="slideMasters/slideMaster1.xml"/><Relationship Id="rId32" Type="http://schemas.openxmlformats.org/officeDocument/2006/relationships/slide" Target="slides/slide6.xml"/><Relationship Id="rId37" Type="http://schemas.openxmlformats.org/officeDocument/2006/relationships/slide" Target="slides/slide11.xml"/><Relationship Id="rId40" Type="http://schemas.openxmlformats.org/officeDocument/2006/relationships/slide" Target="slides/slide14.xml"/><Relationship Id="rId45" Type="http://schemas.openxmlformats.org/officeDocument/2006/relationships/slide" Target="slides/slide19.xml"/><Relationship Id="rId53" Type="http://schemas.microsoft.com/office/2015/10/relationships/revisionInfo" Target="revisionInfo.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5.xml"/><Relationship Id="rId44" Type="http://schemas.openxmlformats.org/officeDocument/2006/relationships/slide" Target="slides/slide18.xml"/><Relationship Id="rId52"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slide" Target="slides/slide9.xml"/><Relationship Id="rId43" Type="http://schemas.openxmlformats.org/officeDocument/2006/relationships/slide" Target="slides/slide17.xml"/><Relationship Id="rId48"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Master" Target="slideMasters/slideMaster2.xml"/><Relationship Id="rId33" Type="http://schemas.openxmlformats.org/officeDocument/2006/relationships/slide" Target="slides/slide7.xml"/><Relationship Id="rId38" Type="http://schemas.openxmlformats.org/officeDocument/2006/relationships/slide" Target="slides/slide12.xml"/><Relationship Id="rId46"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slide" Target="slides/slide15.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 Target="slides/slide2.xml"/><Relationship Id="rId36" Type="http://schemas.openxmlformats.org/officeDocument/2006/relationships/slide" Target="slides/slide10.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raj Sohail" userId="5f70b6b8-9d0f-47b8-b956-59d482a76654" providerId="ADAL" clId="{76DA92E1-D2ED-4546-ABF6-43E37EE34408}"/>
    <pc:docChg chg="undo custSel modSld">
      <pc:chgData name="Eiraj Sohail" userId="5f70b6b8-9d0f-47b8-b956-59d482a76654" providerId="ADAL" clId="{76DA92E1-D2ED-4546-ABF6-43E37EE34408}" dt="2026-01-18T17:55:20.431" v="263" actId="207"/>
      <pc:docMkLst>
        <pc:docMk/>
      </pc:docMkLst>
      <pc:sldChg chg="modSp mod">
        <pc:chgData name="Eiraj Sohail" userId="5f70b6b8-9d0f-47b8-b956-59d482a76654" providerId="ADAL" clId="{76DA92E1-D2ED-4546-ABF6-43E37EE34408}" dt="2026-01-18T17:43:41.508" v="170" actId="2085"/>
        <pc:sldMkLst>
          <pc:docMk/>
          <pc:sldMk cId="524166821" sldId="295"/>
        </pc:sldMkLst>
        <pc:spChg chg="mod">
          <ac:chgData name="Eiraj Sohail" userId="5f70b6b8-9d0f-47b8-b956-59d482a76654" providerId="ADAL" clId="{76DA92E1-D2ED-4546-ABF6-43E37EE34408}" dt="2026-01-18T17:43:41.508" v="170" actId="2085"/>
          <ac:spMkLst>
            <pc:docMk/>
            <pc:sldMk cId="524166821" sldId="295"/>
            <ac:spMk id="5" creationId="{5FD61822-F9D6-BFE9-3629-95BD003A3BE1}"/>
          </ac:spMkLst>
        </pc:spChg>
        <pc:spChg chg="mod">
          <ac:chgData name="Eiraj Sohail" userId="5f70b6b8-9d0f-47b8-b956-59d482a76654" providerId="ADAL" clId="{76DA92E1-D2ED-4546-ABF6-43E37EE34408}" dt="2026-01-18T17:43:30.322" v="169" actId="20577"/>
          <ac:spMkLst>
            <pc:docMk/>
            <pc:sldMk cId="524166821" sldId="295"/>
            <ac:spMk id="8" creationId="{952736BB-D120-0C9A-02B1-D7E70F66FA6D}"/>
          </ac:spMkLst>
        </pc:spChg>
      </pc:sldChg>
      <pc:sldChg chg="addSp delSp modSp mod">
        <pc:chgData name="Eiraj Sohail" userId="5f70b6b8-9d0f-47b8-b956-59d482a76654" providerId="ADAL" clId="{76DA92E1-D2ED-4546-ABF6-43E37EE34408}" dt="2026-01-18T17:49:06.271" v="219" actId="478"/>
        <pc:sldMkLst>
          <pc:docMk/>
          <pc:sldMk cId="4211098933" sldId="434"/>
        </pc:sldMkLst>
        <pc:spChg chg="add del mod">
          <ac:chgData name="Eiraj Sohail" userId="5f70b6b8-9d0f-47b8-b956-59d482a76654" providerId="ADAL" clId="{76DA92E1-D2ED-4546-ABF6-43E37EE34408}" dt="2026-01-18T17:49:06.271" v="219" actId="478"/>
          <ac:spMkLst>
            <pc:docMk/>
            <pc:sldMk cId="4211098933" sldId="434"/>
            <ac:spMk id="4" creationId="{D55048BA-8FA7-D35A-41BC-5FD01EEBC325}"/>
          </ac:spMkLst>
        </pc:spChg>
        <pc:graphicFrameChg chg="mod modGraphic">
          <ac:chgData name="Eiraj Sohail" userId="5f70b6b8-9d0f-47b8-b956-59d482a76654" providerId="ADAL" clId="{76DA92E1-D2ED-4546-ABF6-43E37EE34408}" dt="2026-01-18T17:44:07.449" v="176" actId="1076"/>
          <ac:graphicFrameMkLst>
            <pc:docMk/>
            <pc:sldMk cId="4211098933" sldId="434"/>
            <ac:graphicFrameMk id="3" creationId="{AEAABC11-7EDA-6F32-8603-CAEFF5DBBC5C}"/>
          </ac:graphicFrameMkLst>
        </pc:graphicFrameChg>
      </pc:sldChg>
      <pc:sldChg chg="modSp mod">
        <pc:chgData name="Eiraj Sohail" userId="5f70b6b8-9d0f-47b8-b956-59d482a76654" providerId="ADAL" clId="{76DA92E1-D2ED-4546-ABF6-43E37EE34408}" dt="2026-01-18T17:35:48.497" v="94" actId="6549"/>
        <pc:sldMkLst>
          <pc:docMk/>
          <pc:sldMk cId="1953579894" sldId="435"/>
        </pc:sldMkLst>
        <pc:graphicFrameChg chg="modGraphic">
          <ac:chgData name="Eiraj Sohail" userId="5f70b6b8-9d0f-47b8-b956-59d482a76654" providerId="ADAL" clId="{76DA92E1-D2ED-4546-ABF6-43E37EE34408}" dt="2026-01-18T17:35:48.497" v="94" actId="6549"/>
          <ac:graphicFrameMkLst>
            <pc:docMk/>
            <pc:sldMk cId="1953579894" sldId="435"/>
            <ac:graphicFrameMk id="3" creationId="{E8AFDF7C-9D50-317A-10FA-44D08BC40918}"/>
          </ac:graphicFrameMkLst>
        </pc:graphicFrameChg>
      </pc:sldChg>
      <pc:sldChg chg="modSp mod">
        <pc:chgData name="Eiraj Sohail" userId="5f70b6b8-9d0f-47b8-b956-59d482a76654" providerId="ADAL" clId="{76DA92E1-D2ED-4546-ABF6-43E37EE34408}" dt="2026-01-18T17:42:53.621" v="113" actId="20577"/>
        <pc:sldMkLst>
          <pc:docMk/>
          <pc:sldMk cId="517395496" sldId="437"/>
        </pc:sldMkLst>
        <pc:graphicFrameChg chg="modGraphic">
          <ac:chgData name="Eiraj Sohail" userId="5f70b6b8-9d0f-47b8-b956-59d482a76654" providerId="ADAL" clId="{76DA92E1-D2ED-4546-ABF6-43E37EE34408}" dt="2026-01-18T17:42:53.621" v="113" actId="20577"/>
          <ac:graphicFrameMkLst>
            <pc:docMk/>
            <pc:sldMk cId="517395496" sldId="437"/>
            <ac:graphicFrameMk id="3" creationId="{71E5F175-9366-ED25-06C4-997BB5C02C58}"/>
          </ac:graphicFrameMkLst>
        </pc:graphicFrameChg>
      </pc:sldChg>
      <pc:sldChg chg="modSp mod">
        <pc:chgData name="Eiraj Sohail" userId="5f70b6b8-9d0f-47b8-b956-59d482a76654" providerId="ADAL" clId="{76DA92E1-D2ED-4546-ABF6-43E37EE34408}" dt="2026-01-18T17:47:59.057" v="216" actId="6549"/>
        <pc:sldMkLst>
          <pc:docMk/>
          <pc:sldMk cId="1253605901" sldId="469"/>
        </pc:sldMkLst>
        <pc:spChg chg="mod">
          <ac:chgData name="Eiraj Sohail" userId="5f70b6b8-9d0f-47b8-b956-59d482a76654" providerId="ADAL" clId="{76DA92E1-D2ED-4546-ABF6-43E37EE34408}" dt="2026-01-18T17:47:59.057" v="216" actId="6549"/>
          <ac:spMkLst>
            <pc:docMk/>
            <pc:sldMk cId="1253605901" sldId="469"/>
            <ac:spMk id="6" creationId="{F60B3FFB-3C9E-0B69-F271-F33DCF6222D0}"/>
          </ac:spMkLst>
        </pc:spChg>
      </pc:sldChg>
      <pc:sldChg chg="modSp mod">
        <pc:chgData name="Eiraj Sohail" userId="5f70b6b8-9d0f-47b8-b956-59d482a76654" providerId="ADAL" clId="{76DA92E1-D2ED-4546-ABF6-43E37EE34408}" dt="2026-01-18T17:36:39.239" v="111" actId="6549"/>
        <pc:sldMkLst>
          <pc:docMk/>
          <pc:sldMk cId="938967252" sldId="473"/>
        </pc:sldMkLst>
        <pc:graphicFrameChg chg="modGraphic">
          <ac:chgData name="Eiraj Sohail" userId="5f70b6b8-9d0f-47b8-b956-59d482a76654" providerId="ADAL" clId="{76DA92E1-D2ED-4546-ABF6-43E37EE34408}" dt="2026-01-18T17:36:39.239" v="111" actId="6549"/>
          <ac:graphicFrameMkLst>
            <pc:docMk/>
            <pc:sldMk cId="938967252" sldId="473"/>
            <ac:graphicFrameMk id="3" creationId="{E300A15F-7BEC-3CA1-AF45-E4DA3FD9EB0A}"/>
          </ac:graphicFrameMkLst>
        </pc:graphicFrameChg>
      </pc:sldChg>
      <pc:sldChg chg="modSp mod">
        <pc:chgData name="Eiraj Sohail" userId="5f70b6b8-9d0f-47b8-b956-59d482a76654" providerId="ADAL" clId="{76DA92E1-D2ED-4546-ABF6-43E37EE34408}" dt="2026-01-18T17:43:07.503" v="119" actId="207"/>
        <pc:sldMkLst>
          <pc:docMk/>
          <pc:sldMk cId="1029196216" sldId="474"/>
        </pc:sldMkLst>
        <pc:graphicFrameChg chg="modGraphic">
          <ac:chgData name="Eiraj Sohail" userId="5f70b6b8-9d0f-47b8-b956-59d482a76654" providerId="ADAL" clId="{76DA92E1-D2ED-4546-ABF6-43E37EE34408}" dt="2026-01-18T17:43:07.503" v="119" actId="207"/>
          <ac:graphicFrameMkLst>
            <pc:docMk/>
            <pc:sldMk cId="1029196216" sldId="474"/>
            <ac:graphicFrameMk id="3" creationId="{DBB27C5C-FD15-7F9B-583D-DEB924A13727}"/>
          </ac:graphicFrameMkLst>
        </pc:graphicFrameChg>
      </pc:sldChg>
      <pc:sldChg chg="modSp mod">
        <pc:chgData name="Eiraj Sohail" userId="5f70b6b8-9d0f-47b8-b956-59d482a76654" providerId="ADAL" clId="{76DA92E1-D2ED-4546-ABF6-43E37EE34408}" dt="2026-01-18T17:32:53.360" v="86" actId="20577"/>
        <pc:sldMkLst>
          <pc:docMk/>
          <pc:sldMk cId="1885950184" sldId="475"/>
        </pc:sldMkLst>
        <pc:graphicFrameChg chg="modGraphic">
          <ac:chgData name="Eiraj Sohail" userId="5f70b6b8-9d0f-47b8-b956-59d482a76654" providerId="ADAL" clId="{76DA92E1-D2ED-4546-ABF6-43E37EE34408}" dt="2026-01-18T17:32:53.360" v="86" actId="20577"/>
          <ac:graphicFrameMkLst>
            <pc:docMk/>
            <pc:sldMk cId="1885950184" sldId="475"/>
            <ac:graphicFrameMk id="3" creationId="{610F3911-AE23-7F88-4C20-5D1BB8097BEE}"/>
          </ac:graphicFrameMkLst>
        </pc:graphicFrameChg>
      </pc:sldChg>
      <pc:sldChg chg="modSp">
        <pc:chgData name="Eiraj Sohail" userId="5f70b6b8-9d0f-47b8-b956-59d482a76654" providerId="ADAL" clId="{76DA92E1-D2ED-4546-ABF6-43E37EE34408}" dt="2026-01-18T17:46:25.900" v="202" actId="113"/>
        <pc:sldMkLst>
          <pc:docMk/>
          <pc:sldMk cId="2400942399" sldId="476"/>
        </pc:sldMkLst>
        <pc:graphicFrameChg chg="mod">
          <ac:chgData name="Eiraj Sohail" userId="5f70b6b8-9d0f-47b8-b956-59d482a76654" providerId="ADAL" clId="{76DA92E1-D2ED-4546-ABF6-43E37EE34408}" dt="2026-01-18T17:46:25.900" v="202" actId="113"/>
          <ac:graphicFrameMkLst>
            <pc:docMk/>
            <pc:sldMk cId="2400942399" sldId="476"/>
            <ac:graphicFrameMk id="4" creationId="{AAA7A601-CE82-C656-D298-E8560F08A497}"/>
          </ac:graphicFrameMkLst>
        </pc:graphicFrameChg>
      </pc:sldChg>
      <pc:sldChg chg="modSp">
        <pc:chgData name="Eiraj Sohail" userId="5f70b6b8-9d0f-47b8-b956-59d482a76654" providerId="ADAL" clId="{76DA92E1-D2ED-4546-ABF6-43E37EE34408}" dt="2026-01-18T17:46:37.255" v="203" actId="113"/>
        <pc:sldMkLst>
          <pc:docMk/>
          <pc:sldMk cId="1995215633" sldId="477"/>
        </pc:sldMkLst>
        <pc:graphicFrameChg chg="mod">
          <ac:chgData name="Eiraj Sohail" userId="5f70b6b8-9d0f-47b8-b956-59d482a76654" providerId="ADAL" clId="{76DA92E1-D2ED-4546-ABF6-43E37EE34408}" dt="2026-01-18T17:46:37.255" v="203" actId="113"/>
          <ac:graphicFrameMkLst>
            <pc:docMk/>
            <pc:sldMk cId="1995215633" sldId="477"/>
            <ac:graphicFrameMk id="4" creationId="{3F33A6BE-F7E8-4DDA-AB2B-C230D6F73651}"/>
          </ac:graphicFrameMkLst>
        </pc:graphicFrameChg>
      </pc:sldChg>
      <pc:sldChg chg="addSp modSp mod">
        <pc:chgData name="Eiraj Sohail" userId="5f70b6b8-9d0f-47b8-b956-59d482a76654" providerId="ADAL" clId="{76DA92E1-D2ED-4546-ABF6-43E37EE34408}" dt="2026-01-18T17:55:20.431" v="263" actId="207"/>
        <pc:sldMkLst>
          <pc:docMk/>
          <pc:sldMk cId="3496892006" sldId="478"/>
        </pc:sldMkLst>
        <pc:spChg chg="add mod">
          <ac:chgData name="Eiraj Sohail" userId="5f70b6b8-9d0f-47b8-b956-59d482a76654" providerId="ADAL" clId="{76DA92E1-D2ED-4546-ABF6-43E37EE34408}" dt="2026-01-18T17:55:20.431" v="263" actId="207"/>
          <ac:spMkLst>
            <pc:docMk/>
            <pc:sldMk cId="3496892006" sldId="478"/>
            <ac:spMk id="3" creationId="{47D00D0D-A2B4-3D63-FFD9-D98459F766F1}"/>
          </ac:spMkLst>
        </pc:spChg>
        <pc:graphicFrameChg chg="mod">
          <ac:chgData name="Eiraj Sohail" userId="5f70b6b8-9d0f-47b8-b956-59d482a76654" providerId="ADAL" clId="{76DA92E1-D2ED-4546-ABF6-43E37EE34408}" dt="2026-01-18T17:54:16.060" v="220" actId="113"/>
          <ac:graphicFrameMkLst>
            <pc:docMk/>
            <pc:sldMk cId="3496892006" sldId="478"/>
            <ac:graphicFrameMk id="4" creationId="{2FFE07A3-BB69-B255-B794-C341EA2DD7C5}"/>
          </ac:graphicFrameMkLst>
        </pc:graphicFrameChg>
      </pc:sldChg>
      <pc:sldChg chg="addSp modSp mod">
        <pc:chgData name="Eiraj Sohail" userId="5f70b6b8-9d0f-47b8-b956-59d482a76654" providerId="ADAL" clId="{76DA92E1-D2ED-4546-ABF6-43E37EE34408}" dt="2026-01-18T17:46:18.199" v="201" actId="20577"/>
        <pc:sldMkLst>
          <pc:docMk/>
          <pc:sldMk cId="3594603555" sldId="479"/>
        </pc:sldMkLst>
        <pc:spChg chg="add mod">
          <ac:chgData name="Eiraj Sohail" userId="5f70b6b8-9d0f-47b8-b956-59d482a76654" providerId="ADAL" clId="{76DA92E1-D2ED-4546-ABF6-43E37EE34408}" dt="2026-01-18T17:46:18.199" v="201" actId="20577"/>
          <ac:spMkLst>
            <pc:docMk/>
            <pc:sldMk cId="3594603555" sldId="479"/>
            <ac:spMk id="3" creationId="{C0E87279-C47B-D407-54B8-44704C4AA5E8}"/>
          </ac:spMkLst>
        </pc:spChg>
        <pc:picChg chg="mod">
          <ac:chgData name="Eiraj Sohail" userId="5f70b6b8-9d0f-47b8-b956-59d482a76654" providerId="ADAL" clId="{76DA92E1-D2ED-4546-ABF6-43E37EE34408}" dt="2026-01-18T17:46:10.366" v="188" actId="1076"/>
          <ac:picMkLst>
            <pc:docMk/>
            <pc:sldMk cId="3594603555" sldId="479"/>
            <ac:picMk id="7" creationId="{0E43229A-598B-DDE0-AEB7-4D86D2C0A4B0}"/>
          </ac:picMkLst>
        </pc:picChg>
      </pc:sldChg>
      <pc:sldChg chg="modSp mod">
        <pc:chgData name="Eiraj Sohail" userId="5f70b6b8-9d0f-47b8-b956-59d482a76654" providerId="ADAL" clId="{76DA92E1-D2ED-4546-ABF6-43E37EE34408}" dt="2026-01-18T17:47:21.059" v="214" actId="1076"/>
        <pc:sldMkLst>
          <pc:docMk/>
          <pc:sldMk cId="1148973575" sldId="480"/>
        </pc:sldMkLst>
        <pc:spChg chg="mod">
          <ac:chgData name="Eiraj Sohail" userId="5f70b6b8-9d0f-47b8-b956-59d482a76654" providerId="ADAL" clId="{76DA92E1-D2ED-4546-ABF6-43E37EE34408}" dt="2026-01-18T17:47:21.059" v="214" actId="1076"/>
          <ac:spMkLst>
            <pc:docMk/>
            <pc:sldMk cId="1148973575" sldId="480"/>
            <ac:spMk id="6" creationId="{E10542B1-573D-849D-CF53-860CF66D1964}"/>
          </ac:spMkLst>
        </pc:spChg>
        <pc:picChg chg="mod">
          <ac:chgData name="Eiraj Sohail" userId="5f70b6b8-9d0f-47b8-b956-59d482a76654" providerId="ADAL" clId="{76DA92E1-D2ED-4546-ABF6-43E37EE34408}" dt="2026-01-18T17:47:18.874" v="213" actId="1076"/>
          <ac:picMkLst>
            <pc:docMk/>
            <pc:sldMk cId="1148973575" sldId="480"/>
            <ac:picMk id="8" creationId="{97343560-8D57-B85A-EB93-B2D6ECB732E5}"/>
          </ac:picMkLst>
        </pc:picChg>
      </pc:sldChg>
      <pc:sldChg chg="addSp delSp modSp mod">
        <pc:chgData name="Eiraj Sohail" userId="5f70b6b8-9d0f-47b8-b956-59d482a76654" providerId="ADAL" clId="{76DA92E1-D2ED-4546-ABF6-43E37EE34408}" dt="2026-01-18T17:46:50.578" v="212" actId="478"/>
        <pc:sldMkLst>
          <pc:docMk/>
          <pc:sldMk cId="4205297827" sldId="481"/>
        </pc:sldMkLst>
        <pc:spChg chg="add mod">
          <ac:chgData name="Eiraj Sohail" userId="5f70b6b8-9d0f-47b8-b956-59d482a76654" providerId="ADAL" clId="{76DA92E1-D2ED-4546-ABF6-43E37EE34408}" dt="2026-01-18T17:46:49.235" v="211" actId="207"/>
          <ac:spMkLst>
            <pc:docMk/>
            <pc:sldMk cId="4205297827" sldId="481"/>
            <ac:spMk id="3" creationId="{3583F3D9-AB65-4F5B-326D-C1566736F76D}"/>
          </ac:spMkLst>
        </pc:spChg>
        <pc:spChg chg="add del mod">
          <ac:chgData name="Eiraj Sohail" userId="5f70b6b8-9d0f-47b8-b956-59d482a76654" providerId="ADAL" clId="{76DA92E1-D2ED-4546-ABF6-43E37EE34408}" dt="2026-01-18T17:46:50.578" v="212" actId="478"/>
          <ac:spMkLst>
            <pc:docMk/>
            <pc:sldMk cId="4205297827" sldId="481"/>
            <ac:spMk id="4" creationId="{8E652D3F-2634-635A-DDC7-71A0486878EB}"/>
          </ac:spMkLst>
        </pc:spChg>
        <pc:picChg chg="mod">
          <ac:chgData name="Eiraj Sohail" userId="5f70b6b8-9d0f-47b8-b956-59d482a76654" providerId="ADAL" clId="{76DA92E1-D2ED-4546-ABF6-43E37EE34408}" dt="2026-01-18T17:43:51.701" v="172" actId="14100"/>
          <ac:picMkLst>
            <pc:docMk/>
            <pc:sldMk cId="4205297827" sldId="481"/>
            <ac:picMk id="5" creationId="{B7E95F3B-8A11-0951-A95E-091F955BDA72}"/>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oleObject" Target="https://stonegardengroup.sharepoint.com/sites/StoneGardenShare/Shared%20Documents/Intern/SHARED%20INTERN%20FOLDER/Phase%203s/Energy/EnCap%20Fund%20XII/Internal%20Approvals%20and%20Analysis/Returns%20Analysis/EnCapXII_Loss_Rati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Batting</a:t>
            </a:r>
            <a:r>
              <a:rPr lang="en-US" b="1" baseline="0" dirty="0"/>
              <a:t> Average Winners vs. Losers</a:t>
            </a: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'Win Rate'!$R$22</c:f>
              <c:strCache>
                <c:ptCount val="1"/>
                <c:pt idx="0">
                  <c:v>W-avg (right)</c:v>
                </c:pt>
              </c:strCache>
            </c:strRef>
          </c:tx>
          <c:spPr>
            <a:ln w="28575" cap="rnd">
              <a:solidFill>
                <a:schemeClr val="accent1"/>
              </a:solidFill>
              <a:round/>
            </a:ln>
            <a:effectLst/>
          </c:spPr>
          <c:marker>
            <c:symbol val="none"/>
          </c:marker>
          <c:val>
            <c:numRef>
              <c:f>'Win Rate'!$R$23:$R$136</c:f>
              <c:numCache>
                <c:formatCode>0.0%</c:formatCode>
                <c:ptCount val="114"/>
                <c:pt idx="0">
                  <c:v>0.10705440491178214</c:v>
                </c:pt>
                <c:pt idx="1">
                  <c:v>0.11208978883338575</c:v>
                </c:pt>
                <c:pt idx="2">
                  <c:v>0.11458854324848923</c:v>
                </c:pt>
                <c:pt idx="3">
                  <c:v>0.12045411550296821</c:v>
                </c:pt>
                <c:pt idx="4">
                  <c:v>0.19783331613545677</c:v>
                </c:pt>
                <c:pt idx="5">
                  <c:v>0.18392429789444001</c:v>
                </c:pt>
                <c:pt idx="6">
                  <c:v>0.17595951238757704</c:v>
                </c:pt>
                <c:pt idx="7">
                  <c:v>0.18752574788707937</c:v>
                </c:pt>
                <c:pt idx="8">
                  <c:v>0.18752574788707937</c:v>
                </c:pt>
                <c:pt idx="9">
                  <c:v>0.18752574788707937</c:v>
                </c:pt>
                <c:pt idx="10">
                  <c:v>0.18161989235800385</c:v>
                </c:pt>
                <c:pt idx="11">
                  <c:v>0.19134876161191597</c:v>
                </c:pt>
                <c:pt idx="12">
                  <c:v>0.20994804565230255</c:v>
                </c:pt>
                <c:pt idx="13">
                  <c:v>0.20994804565230255</c:v>
                </c:pt>
                <c:pt idx="14">
                  <c:v>0.22373800591654919</c:v>
                </c:pt>
                <c:pt idx="15">
                  <c:v>0.22373800591654919</c:v>
                </c:pt>
                <c:pt idx="16">
                  <c:v>0.23891637226762982</c:v>
                </c:pt>
                <c:pt idx="17">
                  <c:v>0.25797155171171265</c:v>
                </c:pt>
                <c:pt idx="18">
                  <c:v>0.24480096326633016</c:v>
                </c:pt>
                <c:pt idx="19">
                  <c:v>0.23570453622336249</c:v>
                </c:pt>
                <c:pt idx="20">
                  <c:v>0.24360508397761596</c:v>
                </c:pt>
                <c:pt idx="21">
                  <c:v>0.24360508397761596</c:v>
                </c:pt>
                <c:pt idx="22">
                  <c:v>0.24752907553898895</c:v>
                </c:pt>
                <c:pt idx="23">
                  <c:v>0.24752907553898895</c:v>
                </c:pt>
                <c:pt idx="24">
                  <c:v>0.24102379593713447</c:v>
                </c:pt>
                <c:pt idx="25">
                  <c:v>0.14408799797254768</c:v>
                </c:pt>
                <c:pt idx="26">
                  <c:v>0.15997198784383626</c:v>
                </c:pt>
                <c:pt idx="27">
                  <c:v>0.17278226049209758</c:v>
                </c:pt>
                <c:pt idx="28">
                  <c:v>0.15757595295890267</c:v>
                </c:pt>
                <c:pt idx="29">
                  <c:v>0.15757595295890267</c:v>
                </c:pt>
                <c:pt idx="30">
                  <c:v>0.15757595295890267</c:v>
                </c:pt>
                <c:pt idx="31">
                  <c:v>0.17334188546913282</c:v>
                </c:pt>
                <c:pt idx="32">
                  <c:v>0.17334188546913282</c:v>
                </c:pt>
                <c:pt idx="33">
                  <c:v>0.12347161946508112</c:v>
                </c:pt>
                <c:pt idx="34">
                  <c:v>0.11429801718224575</c:v>
                </c:pt>
                <c:pt idx="35">
                  <c:v>0.11429801718224575</c:v>
                </c:pt>
                <c:pt idx="36">
                  <c:v>0.10167279894608175</c:v>
                </c:pt>
                <c:pt idx="37">
                  <c:v>9.7706245736893266E-2</c:v>
                </c:pt>
                <c:pt idx="38">
                  <c:v>9.7706245736893266E-2</c:v>
                </c:pt>
                <c:pt idx="39">
                  <c:v>9.0474956304915671E-2</c:v>
                </c:pt>
                <c:pt idx="40">
                  <c:v>7.8752448795644803E-2</c:v>
                </c:pt>
                <c:pt idx="41">
                  <c:v>8.0709844887909304E-2</c:v>
                </c:pt>
                <c:pt idx="42">
                  <c:v>8.0709844887909304E-2</c:v>
                </c:pt>
                <c:pt idx="43">
                  <c:v>5.846043735881043E-2</c:v>
                </c:pt>
                <c:pt idx="44">
                  <c:v>5.846043735881043E-2</c:v>
                </c:pt>
                <c:pt idx="45">
                  <c:v>6.4544266177411297E-2</c:v>
                </c:pt>
                <c:pt idx="46">
                  <c:v>5.8750139782319501E-2</c:v>
                </c:pt>
                <c:pt idx="47">
                  <c:v>5.3767933841310331E-2</c:v>
                </c:pt>
                <c:pt idx="48">
                  <c:v>5.7285349268857928E-2</c:v>
                </c:pt>
                <c:pt idx="49">
                  <c:v>5.7285349268857928E-2</c:v>
                </c:pt>
                <c:pt idx="50">
                  <c:v>5.7805485440475458E-2</c:v>
                </c:pt>
                <c:pt idx="51">
                  <c:v>5.8082530636371428E-2</c:v>
                </c:pt>
                <c:pt idx="52">
                  <c:v>5.8976605307207608E-2</c:v>
                </c:pt>
                <c:pt idx="53">
                  <c:v>5.8976605307207608E-2</c:v>
                </c:pt>
                <c:pt idx="54">
                  <c:v>6.1598358769844028E-2</c:v>
                </c:pt>
                <c:pt idx="55">
                  <c:v>6.1029054853325292E-2</c:v>
                </c:pt>
                <c:pt idx="56">
                  <c:v>6.6763076201158525E-2</c:v>
                </c:pt>
                <c:pt idx="57">
                  <c:v>9.0259571909228356E-2</c:v>
                </c:pt>
                <c:pt idx="58">
                  <c:v>9.1952838462282901E-2</c:v>
                </c:pt>
                <c:pt idx="59">
                  <c:v>9.1952838462282901E-2</c:v>
                </c:pt>
                <c:pt idx="60">
                  <c:v>9.6812118337893757E-2</c:v>
                </c:pt>
                <c:pt idx="61">
                  <c:v>0.10098047403047326</c:v>
                </c:pt>
                <c:pt idx="62">
                  <c:v>0.10163049397186642</c:v>
                </c:pt>
                <c:pt idx="63">
                  <c:v>0.10986912081212831</c:v>
                </c:pt>
                <c:pt idx="64">
                  <c:v>0.11946557292959718</c:v>
                </c:pt>
                <c:pt idx="65">
                  <c:v>0.11793060457124015</c:v>
                </c:pt>
                <c:pt idx="66">
                  <c:v>0.11843112189141212</c:v>
                </c:pt>
                <c:pt idx="67">
                  <c:v>0.12850995653515218</c:v>
                </c:pt>
                <c:pt idx="68">
                  <c:v>0.14279253336821643</c:v>
                </c:pt>
                <c:pt idx="69">
                  <c:v>0.13588243180131002</c:v>
                </c:pt>
                <c:pt idx="70">
                  <c:v>0.13461251319851378</c:v>
                </c:pt>
                <c:pt idx="71">
                  <c:v>0.13646377755424663</c:v>
                </c:pt>
                <c:pt idx="72">
                  <c:v>0.14223737021325616</c:v>
                </c:pt>
                <c:pt idx="73">
                  <c:v>0.14820718639535432</c:v>
                </c:pt>
                <c:pt idx="74">
                  <c:v>0.14820845337600466</c:v>
                </c:pt>
                <c:pt idx="75">
                  <c:v>0.14820845337600466</c:v>
                </c:pt>
                <c:pt idx="76">
                  <c:v>0.14820845337600466</c:v>
                </c:pt>
                <c:pt idx="77">
                  <c:v>0.14926154679274195</c:v>
                </c:pt>
                <c:pt idx="78">
                  <c:v>0.1237733033321775</c:v>
                </c:pt>
                <c:pt idx="79">
                  <c:v>0.11603999775236974</c:v>
                </c:pt>
                <c:pt idx="80">
                  <c:v>0.10946958897146826</c:v>
                </c:pt>
                <c:pt idx="81">
                  <c:v>0.10814211809931987</c:v>
                </c:pt>
                <c:pt idx="82">
                  <c:v>0.11978390534080686</c:v>
                </c:pt>
                <c:pt idx="83">
                  <c:v>0.12403233669318502</c:v>
                </c:pt>
                <c:pt idx="84">
                  <c:v>0.12250708740175978</c:v>
                </c:pt>
                <c:pt idx="85">
                  <c:v>0.12249965856930571</c:v>
                </c:pt>
                <c:pt idx="86">
                  <c:v>0.12737875082576317</c:v>
                </c:pt>
                <c:pt idx="87">
                  <c:v>0.12737875082576317</c:v>
                </c:pt>
                <c:pt idx="88">
                  <c:v>0.12614465635157526</c:v>
                </c:pt>
                <c:pt idx="89">
                  <c:v>0.12863107662905693</c:v>
                </c:pt>
                <c:pt idx="90">
                  <c:v>0.17623929935798163</c:v>
                </c:pt>
                <c:pt idx="91">
                  <c:v>0.1810839433576332</c:v>
                </c:pt>
                <c:pt idx="92">
                  <c:v>0.27859864191178768</c:v>
                </c:pt>
                <c:pt idx="93">
                  <c:v>0.35928124270948564</c:v>
                </c:pt>
                <c:pt idx="94">
                  <c:v>0.3379382312876239</c:v>
                </c:pt>
                <c:pt idx="95">
                  <c:v>0.35176432292804005</c:v>
                </c:pt>
                <c:pt idx="96">
                  <c:v>0.36430457303786945</c:v>
                </c:pt>
                <c:pt idx="97">
                  <c:v>0.34210555450388841</c:v>
                </c:pt>
                <c:pt idx="98">
                  <c:v>0.34046646105869022</c:v>
                </c:pt>
                <c:pt idx="99">
                  <c:v>0.35051164591905737</c:v>
                </c:pt>
                <c:pt idx="100">
                  <c:v>0.37433063472451422</c:v>
                </c:pt>
                <c:pt idx="101">
                  <c:v>0.38562162205590034</c:v>
                </c:pt>
                <c:pt idx="102">
                  <c:v>0.39421837393993808</c:v>
                </c:pt>
                <c:pt idx="103">
                  <c:v>0.39347386628683534</c:v>
                </c:pt>
                <c:pt idx="104">
                  <c:v>0.45550729860033329</c:v>
                </c:pt>
                <c:pt idx="105">
                  <c:v>0.51664388344528933</c:v>
                </c:pt>
                <c:pt idx="106">
                  <c:v>0.60242762762676838</c:v>
                </c:pt>
                <c:pt idx="107">
                  <c:v>0.68372721512058554</c:v>
                </c:pt>
                <c:pt idx="108">
                  <c:v>0.64827605722282322</c:v>
                </c:pt>
                <c:pt idx="109">
                  <c:v>0.64827605722282322</c:v>
                </c:pt>
                <c:pt idx="110">
                  <c:v>0.63819384401301493</c:v>
                </c:pt>
                <c:pt idx="111">
                  <c:v>0.60771441708804608</c:v>
                </c:pt>
                <c:pt idx="112">
                  <c:v>0.60771441708804608</c:v>
                </c:pt>
                <c:pt idx="113">
                  <c:v>0.57149738098413838</c:v>
                </c:pt>
              </c:numCache>
            </c:numRef>
          </c:val>
          <c:smooth val="0"/>
          <c:extLst>
            <c:ext xmlns:c16="http://schemas.microsoft.com/office/drawing/2014/chart" uri="{C3380CC4-5D6E-409C-BE32-E72D297353CC}">
              <c16:uniqueId val="{00000000-DCAA-4717-8218-C76FC72C67D1}"/>
            </c:ext>
          </c:extLst>
        </c:ser>
        <c:dLbls>
          <c:showLegendKey val="0"/>
          <c:showVal val="0"/>
          <c:showCatName val="0"/>
          <c:showSerName val="0"/>
          <c:showPercent val="0"/>
          <c:showBubbleSize val="0"/>
        </c:dLbls>
        <c:marker val="1"/>
        <c:smooth val="0"/>
        <c:axId val="1714826943"/>
        <c:axId val="1714826463"/>
      </c:lineChart>
      <c:lineChart>
        <c:grouping val="standard"/>
        <c:varyColors val="0"/>
        <c:ser>
          <c:idx val="1"/>
          <c:order val="1"/>
          <c:tx>
            <c:strRef>
              <c:f>'Win Rate'!$S$22</c:f>
              <c:strCache>
                <c:ptCount val="1"/>
                <c:pt idx="0">
                  <c:v>L-Avg (Left)</c:v>
                </c:pt>
              </c:strCache>
            </c:strRef>
          </c:tx>
          <c:spPr>
            <a:ln w="28575" cap="rnd">
              <a:solidFill>
                <a:schemeClr val="accent2"/>
              </a:solidFill>
              <a:round/>
            </a:ln>
            <a:effectLst/>
          </c:spPr>
          <c:marker>
            <c:symbol val="none"/>
          </c:marker>
          <c:val>
            <c:numRef>
              <c:f>'Win Rate'!$S$23:$S$136</c:f>
              <c:numCache>
                <c:formatCode>0.0%</c:formatCode>
                <c:ptCount val="114"/>
                <c:pt idx="0">
                  <c:v>-0.15477882995435072</c:v>
                </c:pt>
                <c:pt idx="1">
                  <c:v>-0.15477882995435072</c:v>
                </c:pt>
                <c:pt idx="2">
                  <c:v>-0.14293971853730647</c:v>
                </c:pt>
                <c:pt idx="3">
                  <c:v>-0.14293971853730647</c:v>
                </c:pt>
                <c:pt idx="4">
                  <c:v>-0.14293971853730647</c:v>
                </c:pt>
                <c:pt idx="5">
                  <c:v>-0.13985658839184564</c:v>
                </c:pt>
                <c:pt idx="6">
                  <c:v>-0.13985658839184564</c:v>
                </c:pt>
                <c:pt idx="7">
                  <c:v>-0.13985658839184564</c:v>
                </c:pt>
                <c:pt idx="8">
                  <c:v>-0.13596863427496497</c:v>
                </c:pt>
                <c:pt idx="9">
                  <c:v>-0.12550293432905157</c:v>
                </c:pt>
                <c:pt idx="10">
                  <c:v>-0.12550293432905157</c:v>
                </c:pt>
                <c:pt idx="11">
                  <c:v>-0.14580017484425467</c:v>
                </c:pt>
                <c:pt idx="12">
                  <c:v>-0.14580017484425467</c:v>
                </c:pt>
                <c:pt idx="13">
                  <c:v>-0.25199898526453951</c:v>
                </c:pt>
                <c:pt idx="14">
                  <c:v>-0.23107426561743566</c:v>
                </c:pt>
                <c:pt idx="15">
                  <c:v>-0.32218066652347555</c:v>
                </c:pt>
                <c:pt idx="16">
                  <c:v>-0.30307733811039317</c:v>
                </c:pt>
                <c:pt idx="17">
                  <c:v>-0.29566682727291255</c:v>
                </c:pt>
                <c:pt idx="18">
                  <c:v>-0.30312136317884447</c:v>
                </c:pt>
                <c:pt idx="19">
                  <c:v>-0.31978102261735791</c:v>
                </c:pt>
                <c:pt idx="20">
                  <c:v>-0.29596133034354255</c:v>
                </c:pt>
                <c:pt idx="21">
                  <c:v>-0.2789159247393464</c:v>
                </c:pt>
                <c:pt idx="22">
                  <c:v>-0.2789159247393464</c:v>
                </c:pt>
                <c:pt idx="23">
                  <c:v>-0.28084079296644304</c:v>
                </c:pt>
                <c:pt idx="24">
                  <c:v>-0.28084079296644304</c:v>
                </c:pt>
                <c:pt idx="25">
                  <c:v>-0.27614340070383919</c:v>
                </c:pt>
                <c:pt idx="26">
                  <c:v>-0.25661224442510289</c:v>
                </c:pt>
                <c:pt idx="27">
                  <c:v>-0.28142072493974662</c:v>
                </c:pt>
                <c:pt idx="28">
                  <c:v>-0.26631502593402823</c:v>
                </c:pt>
                <c:pt idx="29">
                  <c:v>-0.25750495595483486</c:v>
                </c:pt>
                <c:pt idx="30">
                  <c:v>-0.25412323530859471</c:v>
                </c:pt>
                <c:pt idx="31">
                  <c:v>-0.25587537380264436</c:v>
                </c:pt>
                <c:pt idx="32">
                  <c:v>-0.25652579984958057</c:v>
                </c:pt>
                <c:pt idx="33">
                  <c:v>-0.25652579984958057</c:v>
                </c:pt>
                <c:pt idx="34">
                  <c:v>-0.20773339121238885</c:v>
                </c:pt>
                <c:pt idx="35">
                  <c:v>-0.22508252278763646</c:v>
                </c:pt>
                <c:pt idx="36">
                  <c:v>-0.1705288479437003</c:v>
                </c:pt>
                <c:pt idx="37">
                  <c:v>-0.17502767824863344</c:v>
                </c:pt>
                <c:pt idx="38">
                  <c:v>-0.18429517916743507</c:v>
                </c:pt>
                <c:pt idx="39">
                  <c:v>-0.18429517916743507</c:v>
                </c:pt>
                <c:pt idx="40">
                  <c:v>-0.18429517916743507</c:v>
                </c:pt>
                <c:pt idx="41">
                  <c:v>-0.19483941013093889</c:v>
                </c:pt>
                <c:pt idx="42">
                  <c:v>-0.20057214157045036</c:v>
                </c:pt>
                <c:pt idx="43">
                  <c:v>-0.18772718383619064</c:v>
                </c:pt>
                <c:pt idx="44">
                  <c:v>-0.19165675265307633</c:v>
                </c:pt>
                <c:pt idx="45">
                  <c:v>-0.19165675265307633</c:v>
                </c:pt>
                <c:pt idx="46">
                  <c:v>-0.18892214155623299</c:v>
                </c:pt>
                <c:pt idx="47">
                  <c:v>-0.20407521178132074</c:v>
                </c:pt>
                <c:pt idx="48">
                  <c:v>-0.16408963579644129</c:v>
                </c:pt>
                <c:pt idx="49">
                  <c:v>-0.24016659098270132</c:v>
                </c:pt>
                <c:pt idx="50">
                  <c:v>-0.26095476048190808</c:v>
                </c:pt>
                <c:pt idx="51">
                  <c:v>-0.28894904321043713</c:v>
                </c:pt>
                <c:pt idx="52">
                  <c:v>-0.28991927063858691</c:v>
                </c:pt>
                <c:pt idx="53">
                  <c:v>-0.28763962699255724</c:v>
                </c:pt>
                <c:pt idx="54">
                  <c:v>-0.28995794414502896</c:v>
                </c:pt>
                <c:pt idx="55">
                  <c:v>-0.27078758728989127</c:v>
                </c:pt>
                <c:pt idx="56">
                  <c:v>-0.26676244039835079</c:v>
                </c:pt>
                <c:pt idx="57">
                  <c:v>-0.26676244039835079</c:v>
                </c:pt>
                <c:pt idx="58">
                  <c:v>-0.23963293216239892</c:v>
                </c:pt>
                <c:pt idx="59">
                  <c:v>-0.20794951304799833</c:v>
                </c:pt>
                <c:pt idx="60">
                  <c:v>-0.20794951304799833</c:v>
                </c:pt>
                <c:pt idx="61">
                  <c:v>-0.211545382402273</c:v>
                </c:pt>
                <c:pt idx="62">
                  <c:v>-0.211545382402273</c:v>
                </c:pt>
                <c:pt idx="63">
                  <c:v>-0.22354428697299097</c:v>
                </c:pt>
                <c:pt idx="64">
                  <c:v>-0.2472888614664806</c:v>
                </c:pt>
                <c:pt idx="65">
                  <c:v>-0.26540373134475936</c:v>
                </c:pt>
                <c:pt idx="66">
                  <c:v>-0.24386140641028331</c:v>
                </c:pt>
                <c:pt idx="67">
                  <c:v>-0.24386140641028331</c:v>
                </c:pt>
                <c:pt idx="68">
                  <c:v>-0.24386140641028331</c:v>
                </c:pt>
                <c:pt idx="69">
                  <c:v>-0.24386140641028331</c:v>
                </c:pt>
                <c:pt idx="70">
                  <c:v>-0.16218377993795643</c:v>
                </c:pt>
                <c:pt idx="71">
                  <c:v>-0.16218377993795643</c:v>
                </c:pt>
                <c:pt idx="72">
                  <c:v>-0.14440868955399933</c:v>
                </c:pt>
                <c:pt idx="73">
                  <c:v>-0.16491368576593848</c:v>
                </c:pt>
                <c:pt idx="74">
                  <c:v>-0.14769947021234925</c:v>
                </c:pt>
                <c:pt idx="75">
                  <c:v>-0.14396822752324479</c:v>
                </c:pt>
                <c:pt idx="76">
                  <c:v>-0.23172622601934723</c:v>
                </c:pt>
                <c:pt idx="77">
                  <c:v>-0.26359939938277233</c:v>
                </c:pt>
                <c:pt idx="78">
                  <c:v>-0.26359939938277233</c:v>
                </c:pt>
                <c:pt idx="79">
                  <c:v>-0.29372471602127082</c:v>
                </c:pt>
                <c:pt idx="80">
                  <c:v>-0.32861711145638933</c:v>
                </c:pt>
                <c:pt idx="81">
                  <c:v>-0.41253996826708639</c:v>
                </c:pt>
                <c:pt idx="82">
                  <c:v>-0.43663021993513512</c:v>
                </c:pt>
                <c:pt idx="83">
                  <c:v>-0.43663021993513512</c:v>
                </c:pt>
                <c:pt idx="84">
                  <c:v>-0.43663021993513512</c:v>
                </c:pt>
                <c:pt idx="85">
                  <c:v>-0.43663021993513512</c:v>
                </c:pt>
                <c:pt idx="86">
                  <c:v>-0.43663021993513512</c:v>
                </c:pt>
                <c:pt idx="87">
                  <c:v>-0.47472677639683009</c:v>
                </c:pt>
                <c:pt idx="88">
                  <c:v>-0.44495707039406224</c:v>
                </c:pt>
                <c:pt idx="89">
                  <c:v>-0.44495707039406224</c:v>
                </c:pt>
                <c:pt idx="90">
                  <c:v>-0.44495707039406224</c:v>
                </c:pt>
                <c:pt idx="91">
                  <c:v>-0.40712456030071298</c:v>
                </c:pt>
                <c:pt idx="92">
                  <c:v>-0.40712456030071298</c:v>
                </c:pt>
                <c:pt idx="93">
                  <c:v>-0.45551724823001466</c:v>
                </c:pt>
                <c:pt idx="94">
                  <c:v>-0.47359776148266647</c:v>
                </c:pt>
                <c:pt idx="95">
                  <c:v>-0.47359776148266647</c:v>
                </c:pt>
                <c:pt idx="96">
                  <c:v>-0.506474684613195</c:v>
                </c:pt>
                <c:pt idx="97">
                  <c:v>-0.44387187745231216</c:v>
                </c:pt>
                <c:pt idx="98">
                  <c:v>-0.42519365024284694</c:v>
                </c:pt>
                <c:pt idx="99">
                  <c:v>-0.42519365024284694</c:v>
                </c:pt>
                <c:pt idx="100">
                  <c:v>-0.42519365024284694</c:v>
                </c:pt>
                <c:pt idx="101">
                  <c:v>-0.42519365024284694</c:v>
                </c:pt>
                <c:pt idx="102">
                  <c:v>-0.23359154500980742</c:v>
                </c:pt>
                <c:pt idx="103">
                  <c:v>-0.23359154500980742</c:v>
                </c:pt>
                <c:pt idx="104">
                  <c:v>-0.23359154500980742</c:v>
                </c:pt>
                <c:pt idx="105">
                  <c:v>-0.23359154500980742</c:v>
                </c:pt>
                <c:pt idx="106">
                  <c:v>-0.23359154500980742</c:v>
                </c:pt>
                <c:pt idx="107">
                  <c:v>-0.23359154500980742</c:v>
                </c:pt>
                <c:pt idx="108">
                  <c:v>-0.17051680396430313</c:v>
                </c:pt>
                <c:pt idx="109">
                  <c:v>-0.13034250296381</c:v>
                </c:pt>
                <c:pt idx="110">
                  <c:v>-0.13034250296381</c:v>
                </c:pt>
                <c:pt idx="111">
                  <c:v>-0.13034250296381</c:v>
                </c:pt>
                <c:pt idx="112">
                  <c:v>-0.1963604651995885</c:v>
                </c:pt>
                <c:pt idx="113">
                  <c:v>-0.19595882701363335</c:v>
                </c:pt>
              </c:numCache>
            </c:numRef>
          </c:val>
          <c:smooth val="0"/>
          <c:extLst>
            <c:ext xmlns:c16="http://schemas.microsoft.com/office/drawing/2014/chart" uri="{C3380CC4-5D6E-409C-BE32-E72D297353CC}">
              <c16:uniqueId val="{00000001-DCAA-4717-8218-C76FC72C67D1}"/>
            </c:ext>
          </c:extLst>
        </c:ser>
        <c:dLbls>
          <c:showLegendKey val="0"/>
          <c:showVal val="0"/>
          <c:showCatName val="0"/>
          <c:showSerName val="0"/>
          <c:showPercent val="0"/>
          <c:showBubbleSize val="0"/>
        </c:dLbls>
        <c:marker val="1"/>
        <c:smooth val="0"/>
        <c:axId val="1921735055"/>
        <c:axId val="1921723055"/>
      </c:lineChart>
      <c:catAx>
        <c:axId val="17148269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4826463"/>
        <c:crosses val="autoZero"/>
        <c:auto val="1"/>
        <c:lblAlgn val="ctr"/>
        <c:lblOffset val="100"/>
        <c:noMultiLvlLbl val="0"/>
      </c:catAx>
      <c:valAx>
        <c:axId val="171482646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4826943"/>
        <c:crosses val="autoZero"/>
        <c:crossBetween val="between"/>
      </c:valAx>
      <c:valAx>
        <c:axId val="1921723055"/>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1735055"/>
        <c:crosses val="max"/>
        <c:crossBetween val="between"/>
      </c:valAx>
      <c:catAx>
        <c:axId val="1921735055"/>
        <c:scaling>
          <c:orientation val="minMax"/>
        </c:scaling>
        <c:delete val="1"/>
        <c:axPos val="b"/>
        <c:majorTickMark val="out"/>
        <c:minorTickMark val="none"/>
        <c:tickLblPos val="nextTo"/>
        <c:crossAx val="192172305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EnCap</a:t>
            </a:r>
            <a:r>
              <a:rPr lang="en-US" b="1" baseline="0" dirty="0"/>
              <a:t> Upstream Alpha (Rolling Last 20 deals)</a:t>
            </a: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'Win Rate'!$N$22</c:f>
              <c:strCache>
                <c:ptCount val="1"/>
                <c:pt idx="0">
                  <c:v>Avg L-20</c:v>
                </c:pt>
              </c:strCache>
            </c:strRef>
          </c:tx>
          <c:spPr>
            <a:ln w="28575" cap="rnd">
              <a:solidFill>
                <a:schemeClr val="accent1"/>
              </a:solidFill>
              <a:round/>
            </a:ln>
            <a:effectLst/>
          </c:spPr>
          <c:marker>
            <c:symbol val="none"/>
          </c:marker>
          <c:val>
            <c:numRef>
              <c:f>'Win Rate'!$N$23:$N$136</c:f>
              <c:numCache>
                <c:formatCode>0.0%</c:formatCode>
                <c:ptCount val="114"/>
                <c:pt idx="0">
                  <c:v>7.3084106770648595E-3</c:v>
                </c:pt>
                <c:pt idx="1">
                  <c:v>1.0425553104724235E-2</c:v>
                </c:pt>
                <c:pt idx="2">
                  <c:v>4.2192881974339328E-3</c:v>
                </c:pt>
                <c:pt idx="3">
                  <c:v>7.5710437714219207E-3</c:v>
                </c:pt>
                <c:pt idx="4">
                  <c:v>5.178772984712967E-2</c:v>
                </c:pt>
                <c:pt idx="5">
                  <c:v>6.0579198356807376E-2</c:v>
                </c:pt>
                <c:pt idx="6">
                  <c:v>5.5648616852558869E-2</c:v>
                </c:pt>
                <c:pt idx="7">
                  <c:v>6.2808667399869858E-2</c:v>
                </c:pt>
                <c:pt idx="8">
                  <c:v>6.4289792777729157E-2</c:v>
                </c:pt>
                <c:pt idx="9">
                  <c:v>6.8276726090458054E-2</c:v>
                </c:pt>
                <c:pt idx="10">
                  <c:v>6.4620720286744621E-2</c:v>
                </c:pt>
                <c:pt idx="11">
                  <c:v>4.6856360273557142E-2</c:v>
                </c:pt>
                <c:pt idx="12">
                  <c:v>5.7484522582349463E-2</c:v>
                </c:pt>
                <c:pt idx="13">
                  <c:v>1.1970746687941656E-2</c:v>
                </c:pt>
                <c:pt idx="14">
                  <c:v>7.160733757508776E-3</c:v>
                </c:pt>
                <c:pt idx="15">
                  <c:v>-3.6223266673938798E-2</c:v>
                </c:pt>
                <c:pt idx="16">
                  <c:v>-4.4985095073239369E-2</c:v>
                </c:pt>
                <c:pt idx="17">
                  <c:v>-5.8393236279501763E-2</c:v>
                </c:pt>
                <c:pt idx="18">
                  <c:v>-4.2205969633523237E-2</c:v>
                </c:pt>
                <c:pt idx="19">
                  <c:v>-2.8812396557932916E-2</c:v>
                </c:pt>
                <c:pt idx="20">
                  <c:v>-3.9024942571562297E-2</c:v>
                </c:pt>
                <c:pt idx="21">
                  <c:v>-3.0096396778888129E-2</c:v>
                </c:pt>
                <c:pt idx="22">
                  <c:v>-2.8227829368710527E-2</c:v>
                </c:pt>
                <c:pt idx="23">
                  <c:v>-2.9236093678142103E-2</c:v>
                </c:pt>
                <c:pt idx="24">
                  <c:v>-3.2333845869501381E-2</c:v>
                </c:pt>
                <c:pt idx="25">
                  <c:v>-9.6044229842530526E-2</c:v>
                </c:pt>
                <c:pt idx="26">
                  <c:v>-9.7913489275030824E-2</c:v>
                </c:pt>
                <c:pt idx="27">
                  <c:v>-0.13001972979579857</c:v>
                </c:pt>
                <c:pt idx="28">
                  <c:v>-0.14520331767890515</c:v>
                </c:pt>
                <c:pt idx="29">
                  <c:v>-0.13891041055090986</c:v>
                </c:pt>
                <c:pt idx="30">
                  <c:v>-0.13649489580359547</c:v>
                </c:pt>
                <c:pt idx="31">
                  <c:v>-0.15368078826174503</c:v>
                </c:pt>
                <c:pt idx="32">
                  <c:v>-0.15417635096417265</c:v>
                </c:pt>
                <c:pt idx="33">
                  <c:v>-0.16605022382228021</c:v>
                </c:pt>
                <c:pt idx="34">
                  <c:v>-0.1157244173853504</c:v>
                </c:pt>
                <c:pt idx="35">
                  <c:v>-0.128116654224813</c:v>
                </c:pt>
                <c:pt idx="36">
                  <c:v>-7.9794965647106281E-2</c:v>
                </c:pt>
                <c:pt idx="37">
                  <c:v>-7.1129040539861368E-2</c:v>
                </c:pt>
                <c:pt idx="38">
                  <c:v>-7.6866064918167123E-2</c:v>
                </c:pt>
                <c:pt idx="39">
                  <c:v>-7.9620841844634777E-2</c:v>
                </c:pt>
                <c:pt idx="40">
                  <c:v>-8.4086558991023685E-2</c:v>
                </c:pt>
                <c:pt idx="41">
                  <c:v>-7.6746872265718233E-2</c:v>
                </c:pt>
                <c:pt idx="42">
                  <c:v>-8.0022718802581924E-2</c:v>
                </c:pt>
                <c:pt idx="43">
                  <c:v>-9.3941423380952099E-2</c:v>
                </c:pt>
                <c:pt idx="44">
                  <c:v>-9.6374013600928982E-2</c:v>
                </c:pt>
                <c:pt idx="45">
                  <c:v>-9.4056364527176278E-2</c:v>
                </c:pt>
                <c:pt idx="46">
                  <c:v>-8.2776878125424752E-2</c:v>
                </c:pt>
                <c:pt idx="47">
                  <c:v>-8.1292761484829751E-2</c:v>
                </c:pt>
                <c:pt idx="48">
                  <c:v>-4.8131310286046461E-2</c:v>
                </c:pt>
                <c:pt idx="49">
                  <c:v>-8.435843180331315E-2</c:v>
                </c:pt>
                <c:pt idx="50">
                  <c:v>-7.8806048526260344E-2</c:v>
                </c:pt>
                <c:pt idx="51">
                  <c:v>-7.4119973686222307E-2</c:v>
                </c:pt>
                <c:pt idx="52">
                  <c:v>-5.732202000805723E-2</c:v>
                </c:pt>
                <c:pt idx="53">
                  <c:v>-5.6562138792714003E-2</c:v>
                </c:pt>
                <c:pt idx="54">
                  <c:v>-7.2327851864393292E-2</c:v>
                </c:pt>
                <c:pt idx="55">
                  <c:v>-8.1178077493767514E-2</c:v>
                </c:pt>
                <c:pt idx="56">
                  <c:v>-6.0294263455797407E-2</c:v>
                </c:pt>
                <c:pt idx="57">
                  <c:v>-4.5748813731754177E-2</c:v>
                </c:pt>
                <c:pt idx="58">
                  <c:v>-5.0155348948295035E-2</c:v>
                </c:pt>
                <c:pt idx="59">
                  <c:v>-3.6576740756409071E-2</c:v>
                </c:pt>
                <c:pt idx="60">
                  <c:v>-3.3800009398917155E-2</c:v>
                </c:pt>
                <c:pt idx="61">
                  <c:v>-4.7841362366072601E-2</c:v>
                </c:pt>
                <c:pt idx="62">
                  <c:v>-4.7500875730104752E-2</c:v>
                </c:pt>
                <c:pt idx="63">
                  <c:v>-3.3022339667208522E-2</c:v>
                </c:pt>
                <c:pt idx="64">
                  <c:v>-2.0250402078432466E-2</c:v>
                </c:pt>
                <c:pt idx="65">
                  <c:v>-9.8475074007596808E-3</c:v>
                </c:pt>
                <c:pt idx="66">
                  <c:v>-1.9585079366376608E-2</c:v>
                </c:pt>
                <c:pt idx="67">
                  <c:v>-1.3345800777394673E-2</c:v>
                </c:pt>
                <c:pt idx="68">
                  <c:v>-4.5042055950215683E-3</c:v>
                </c:pt>
                <c:pt idx="69">
                  <c:v>-8.7818875173922093E-3</c:v>
                </c:pt>
                <c:pt idx="70">
                  <c:v>3.5680415486357045E-2</c:v>
                </c:pt>
                <c:pt idx="71">
                  <c:v>3.6914591723512288E-2</c:v>
                </c:pt>
                <c:pt idx="72">
                  <c:v>3.3038871254301695E-2</c:v>
                </c:pt>
                <c:pt idx="73">
                  <c:v>1.4012526897657418E-2</c:v>
                </c:pt>
                <c:pt idx="74">
                  <c:v>3.5481625342346036E-2</c:v>
                </c:pt>
                <c:pt idx="75">
                  <c:v>3.6903051128671545E-2</c:v>
                </c:pt>
                <c:pt idx="76">
                  <c:v>3.4714326539658515E-3</c:v>
                </c:pt>
                <c:pt idx="77">
                  <c:v>-2.7678858711049872E-2</c:v>
                </c:pt>
                <c:pt idx="78">
                  <c:v>-4.2243569259943853E-2</c:v>
                </c:pt>
                <c:pt idx="79">
                  <c:v>-4.0060845589969529E-2</c:v>
                </c:pt>
                <c:pt idx="80">
                  <c:v>-3.6559311171150938E-2</c:v>
                </c:pt>
                <c:pt idx="81">
                  <c:v>-9.0212962421215848E-2</c:v>
                </c:pt>
                <c:pt idx="82">
                  <c:v>-6.5687469751173816E-2</c:v>
                </c:pt>
                <c:pt idx="83">
                  <c:v>-6.2855182182921701E-2</c:v>
                </c:pt>
                <c:pt idx="84">
                  <c:v>-6.3872015043871855E-2</c:v>
                </c:pt>
                <c:pt idx="85">
                  <c:v>-6.3876967598841233E-2</c:v>
                </c:pt>
                <c:pt idx="86">
                  <c:v>-6.0624239427869604E-2</c:v>
                </c:pt>
                <c:pt idx="87">
                  <c:v>-7.3323091581767946E-2</c:v>
                </c:pt>
                <c:pt idx="88">
                  <c:v>-9.1417906218191416E-2</c:v>
                </c:pt>
                <c:pt idx="89">
                  <c:v>-8.9878693665464637E-2</c:v>
                </c:pt>
                <c:pt idx="90">
                  <c:v>-6.0406936738035079E-2</c:v>
                </c:pt>
                <c:pt idx="91">
                  <c:v>-7.1005415353086576E-2</c:v>
                </c:pt>
                <c:pt idx="92">
                  <c:v>-1.5282730464998284E-2</c:v>
                </c:pt>
                <c:pt idx="93">
                  <c:v>4.888181758967601E-2</c:v>
                </c:pt>
                <c:pt idx="94">
                  <c:v>6.7426233697527066E-2</c:v>
                </c:pt>
                <c:pt idx="95">
                  <c:v>7.6643628124471203E-2</c:v>
                </c:pt>
                <c:pt idx="96">
                  <c:v>0.11551049942327959</c:v>
                </c:pt>
                <c:pt idx="97">
                  <c:v>0.15496807070479302</c:v>
                </c:pt>
                <c:pt idx="98">
                  <c:v>0.19462643985839745</c:v>
                </c:pt>
                <c:pt idx="99">
                  <c:v>0.20275825617393264</c:v>
                </c:pt>
                <c:pt idx="100">
                  <c:v>0.22204029473073109</c:v>
                </c:pt>
                <c:pt idx="101">
                  <c:v>0.23118061780851992</c:v>
                </c:pt>
                <c:pt idx="102">
                  <c:v>0.30453124266140302</c:v>
                </c:pt>
                <c:pt idx="103">
                  <c:v>0.30389309324445779</c:v>
                </c:pt>
                <c:pt idx="104">
                  <c:v>0.35706460665602746</c:v>
                </c:pt>
                <c:pt idx="105">
                  <c:v>0.40946739366598972</c:v>
                </c:pt>
                <c:pt idx="106">
                  <c:v>0.48299631725011477</c:v>
                </c:pt>
                <c:pt idx="107">
                  <c:v>0.55268167795910084</c:v>
                </c:pt>
                <c:pt idx="108">
                  <c:v>0.57029578472881126</c:v>
                </c:pt>
                <c:pt idx="109">
                  <c:v>0.57412190863362</c:v>
                </c:pt>
                <c:pt idx="110">
                  <c:v>0.56499990620569829</c:v>
                </c:pt>
                <c:pt idx="111">
                  <c:v>0.5374232818450122</c:v>
                </c:pt>
                <c:pt idx="112">
                  <c:v>0.53113585687017617</c:v>
                </c:pt>
                <c:pt idx="113">
                  <c:v>0.46186077984159962</c:v>
                </c:pt>
              </c:numCache>
            </c:numRef>
          </c:val>
          <c:smooth val="0"/>
          <c:extLst>
            <c:ext xmlns:c16="http://schemas.microsoft.com/office/drawing/2014/chart" uri="{C3380CC4-5D6E-409C-BE32-E72D297353CC}">
              <c16:uniqueId val="{00000000-BDAA-4DE3-9E6D-947112751A5C}"/>
            </c:ext>
          </c:extLst>
        </c:ser>
        <c:ser>
          <c:idx val="1"/>
          <c:order val="1"/>
          <c:tx>
            <c:strRef>
              <c:f>'Win Rate'!$O$22</c:f>
              <c:strCache>
                <c:ptCount val="1"/>
                <c:pt idx="0">
                  <c:v>Median L-20</c:v>
                </c:pt>
              </c:strCache>
            </c:strRef>
          </c:tx>
          <c:spPr>
            <a:ln w="28575" cap="rnd">
              <a:solidFill>
                <a:schemeClr val="accent2"/>
              </a:solidFill>
              <a:round/>
            </a:ln>
            <a:effectLst/>
          </c:spPr>
          <c:marker>
            <c:symbol val="none"/>
          </c:marker>
          <c:val>
            <c:numRef>
              <c:f>'Win Rate'!$O$23:$O$136</c:f>
              <c:numCache>
                <c:formatCode>0.0%</c:formatCode>
                <c:ptCount val="114"/>
                <c:pt idx="0">
                  <c:v>5.8258482745589868E-2</c:v>
                </c:pt>
                <c:pt idx="1">
                  <c:v>5.8258482745589868E-2</c:v>
                </c:pt>
                <c:pt idx="2">
                  <c:v>5.7419177824994394E-2</c:v>
                </c:pt>
                <c:pt idx="3">
                  <c:v>5.8258482745589868E-2</c:v>
                </c:pt>
                <c:pt idx="4">
                  <c:v>5.8258482745589868E-2</c:v>
                </c:pt>
                <c:pt idx="5">
                  <c:v>5.8258482745589868E-2</c:v>
                </c:pt>
                <c:pt idx="6">
                  <c:v>5.8258482745589868E-2</c:v>
                </c:pt>
                <c:pt idx="7">
                  <c:v>5.8258482745589868E-2</c:v>
                </c:pt>
                <c:pt idx="8">
                  <c:v>5.8258482745589868E-2</c:v>
                </c:pt>
                <c:pt idx="9">
                  <c:v>5.8258482745589868E-2</c:v>
                </c:pt>
                <c:pt idx="10">
                  <c:v>5.8258482745589868E-2</c:v>
                </c:pt>
                <c:pt idx="11">
                  <c:v>5.1053731828553772E-2</c:v>
                </c:pt>
                <c:pt idx="12">
                  <c:v>5.8258482745589868E-2</c:v>
                </c:pt>
                <c:pt idx="13">
                  <c:v>5.8258482745589868E-2</c:v>
                </c:pt>
                <c:pt idx="14">
                  <c:v>1.7016079002238893E-2</c:v>
                </c:pt>
                <c:pt idx="15">
                  <c:v>1.7016079002238893E-2</c:v>
                </c:pt>
                <c:pt idx="16">
                  <c:v>-4.2751788793500833E-2</c:v>
                </c:pt>
                <c:pt idx="17">
                  <c:v>-4.8226827200952505E-2</c:v>
                </c:pt>
                <c:pt idx="18">
                  <c:v>-4.2751788793500833E-2</c:v>
                </c:pt>
                <c:pt idx="19">
                  <c:v>1.7016079002238893E-2</c:v>
                </c:pt>
                <c:pt idx="20">
                  <c:v>-4.2751788793500833E-2</c:v>
                </c:pt>
                <c:pt idx="21">
                  <c:v>-3.4762463991674264E-2</c:v>
                </c:pt>
                <c:pt idx="22">
                  <c:v>-3.4762463991674264E-2</c:v>
                </c:pt>
                <c:pt idx="23">
                  <c:v>-3.4762463991674264E-2</c:v>
                </c:pt>
                <c:pt idx="24">
                  <c:v>-3.4762463991674264E-2</c:v>
                </c:pt>
                <c:pt idx="25">
                  <c:v>-4.2751788793500833E-2</c:v>
                </c:pt>
                <c:pt idx="26">
                  <c:v>-4.2751788793500833E-2</c:v>
                </c:pt>
                <c:pt idx="27">
                  <c:v>-5.7764407605389034E-2</c:v>
                </c:pt>
                <c:pt idx="28">
                  <c:v>-5.7764407605389034E-2</c:v>
                </c:pt>
                <c:pt idx="29">
                  <c:v>-5.4835239853971318E-2</c:v>
                </c:pt>
                <c:pt idx="30">
                  <c:v>-5.3073065489840365E-2</c:v>
                </c:pt>
                <c:pt idx="31">
                  <c:v>-5.4835239853971318E-2</c:v>
                </c:pt>
                <c:pt idx="32">
                  <c:v>-5.4835239853971318E-2</c:v>
                </c:pt>
                <c:pt idx="33">
                  <c:v>-5.4835239853971318E-2</c:v>
                </c:pt>
                <c:pt idx="34">
                  <c:v>-5.3073065489840365E-2</c:v>
                </c:pt>
                <c:pt idx="35">
                  <c:v>-5.4835239853971318E-2</c:v>
                </c:pt>
                <c:pt idx="36">
                  <c:v>-5.3073065489840365E-2</c:v>
                </c:pt>
                <c:pt idx="37">
                  <c:v>-3.7000498653675495E-2</c:v>
                </c:pt>
                <c:pt idx="38">
                  <c:v>-3.7000498653675495E-2</c:v>
                </c:pt>
                <c:pt idx="39">
                  <c:v>-3.7000498653675495E-2</c:v>
                </c:pt>
                <c:pt idx="40">
                  <c:v>-3.7000498653675495E-2</c:v>
                </c:pt>
                <c:pt idx="41">
                  <c:v>-3.4762463991674264E-2</c:v>
                </c:pt>
                <c:pt idx="42">
                  <c:v>-3.7000498653675495E-2</c:v>
                </c:pt>
                <c:pt idx="43">
                  <c:v>-3.7000498653675495E-2</c:v>
                </c:pt>
                <c:pt idx="44">
                  <c:v>-3.7000498653675495E-2</c:v>
                </c:pt>
                <c:pt idx="45">
                  <c:v>-3.7000498653675495E-2</c:v>
                </c:pt>
                <c:pt idx="46">
                  <c:v>-3.3587691025073751E-2</c:v>
                </c:pt>
                <c:pt idx="47">
                  <c:v>-3.3587691025073751E-2</c:v>
                </c:pt>
                <c:pt idx="48">
                  <c:v>8.928080372227809E-3</c:v>
                </c:pt>
                <c:pt idx="49">
                  <c:v>8.928080372227809E-3</c:v>
                </c:pt>
                <c:pt idx="50">
                  <c:v>1.2397128621585152E-2</c:v>
                </c:pt>
                <c:pt idx="51">
                  <c:v>2.4893810292934138E-2</c:v>
                </c:pt>
                <c:pt idx="52">
                  <c:v>2.5921489529097785E-2</c:v>
                </c:pt>
                <c:pt idx="53">
                  <c:v>2.5921489529097785E-2</c:v>
                </c:pt>
                <c:pt idx="54">
                  <c:v>2.5921489529097785E-2</c:v>
                </c:pt>
                <c:pt idx="55">
                  <c:v>1.2397128621585152E-2</c:v>
                </c:pt>
                <c:pt idx="56">
                  <c:v>2.5921489529097785E-2</c:v>
                </c:pt>
                <c:pt idx="57">
                  <c:v>5.0960205719519092E-2</c:v>
                </c:pt>
                <c:pt idx="58">
                  <c:v>1.2397128621585152E-2</c:v>
                </c:pt>
                <c:pt idx="59">
                  <c:v>1.2397128621585152E-2</c:v>
                </c:pt>
                <c:pt idx="60">
                  <c:v>1.2397128621585152E-2</c:v>
                </c:pt>
                <c:pt idx="61">
                  <c:v>8.928080372227809E-3</c:v>
                </c:pt>
                <c:pt idx="62">
                  <c:v>8.928080372227809E-3</c:v>
                </c:pt>
                <c:pt idx="63">
                  <c:v>1.2397128621585152E-2</c:v>
                </c:pt>
                <c:pt idx="64">
                  <c:v>6.1407072987123001E-2</c:v>
                </c:pt>
                <c:pt idx="65">
                  <c:v>6.3526983328268338E-2</c:v>
                </c:pt>
                <c:pt idx="66">
                  <c:v>6.1407072987123001E-2</c:v>
                </c:pt>
                <c:pt idx="67">
                  <c:v>6.3526983328268338E-2</c:v>
                </c:pt>
                <c:pt idx="68">
                  <c:v>7.0599576028077982E-2</c:v>
                </c:pt>
                <c:pt idx="69">
                  <c:v>6.3526983328268338E-2</c:v>
                </c:pt>
                <c:pt idx="70">
                  <c:v>7.0599576028077982E-2</c:v>
                </c:pt>
                <c:pt idx="71">
                  <c:v>8.9444684308528366E-2</c:v>
                </c:pt>
                <c:pt idx="72">
                  <c:v>8.9444684308528366E-2</c:v>
                </c:pt>
                <c:pt idx="73">
                  <c:v>8.9444684308528366E-2</c:v>
                </c:pt>
                <c:pt idx="74">
                  <c:v>9.7976015912598635E-2</c:v>
                </c:pt>
                <c:pt idx="75">
                  <c:v>9.7976015912598635E-2</c:v>
                </c:pt>
                <c:pt idx="76">
                  <c:v>9.7976015912598635E-2</c:v>
                </c:pt>
                <c:pt idx="77">
                  <c:v>8.9444684308528366E-2</c:v>
                </c:pt>
                <c:pt idx="78">
                  <c:v>2.5517012207232126E-2</c:v>
                </c:pt>
                <c:pt idx="79">
                  <c:v>2.5517012207232126E-2</c:v>
                </c:pt>
                <c:pt idx="80">
                  <c:v>2.5517012207232126E-2</c:v>
                </c:pt>
                <c:pt idx="81">
                  <c:v>2.4054274819748978E-2</c:v>
                </c:pt>
                <c:pt idx="82">
                  <c:v>2.5517012207232126E-2</c:v>
                </c:pt>
                <c:pt idx="83">
                  <c:v>2.5517012207232126E-2</c:v>
                </c:pt>
                <c:pt idx="84">
                  <c:v>2.5517012207232126E-2</c:v>
                </c:pt>
                <c:pt idx="85">
                  <c:v>2.5517012207232126E-2</c:v>
                </c:pt>
                <c:pt idx="86">
                  <c:v>2.5517012207232126E-2</c:v>
                </c:pt>
                <c:pt idx="87">
                  <c:v>2.5517012207232126E-2</c:v>
                </c:pt>
                <c:pt idx="88">
                  <c:v>2.4054274819748978E-2</c:v>
                </c:pt>
                <c:pt idx="89">
                  <c:v>2.4054274819748978E-2</c:v>
                </c:pt>
                <c:pt idx="90">
                  <c:v>2.5517012207232126E-2</c:v>
                </c:pt>
                <c:pt idx="91">
                  <c:v>2.4054274819748978E-2</c:v>
                </c:pt>
                <c:pt idx="92">
                  <c:v>2.4054274819748978E-2</c:v>
                </c:pt>
                <c:pt idx="93">
                  <c:v>2.5517012207232126E-2</c:v>
                </c:pt>
                <c:pt idx="94">
                  <c:v>6.047908280342118E-2</c:v>
                </c:pt>
                <c:pt idx="95">
                  <c:v>6.047908280342118E-2</c:v>
                </c:pt>
                <c:pt idx="96">
                  <c:v>0.16299727191464419</c:v>
                </c:pt>
                <c:pt idx="97">
                  <c:v>0.16299727191464419</c:v>
                </c:pt>
                <c:pt idx="98">
                  <c:v>0.1662833075030028</c:v>
                </c:pt>
                <c:pt idx="99">
                  <c:v>0.17914052597505581</c:v>
                </c:pt>
                <c:pt idx="100">
                  <c:v>0.19628515483347297</c:v>
                </c:pt>
                <c:pt idx="101">
                  <c:v>0.21600105945331505</c:v>
                </c:pt>
                <c:pt idx="102">
                  <c:v>0.22692504280932457</c:v>
                </c:pt>
                <c:pt idx="103">
                  <c:v>0.22692504280932457</c:v>
                </c:pt>
                <c:pt idx="104">
                  <c:v>0.2345189946848667</c:v>
                </c:pt>
                <c:pt idx="105">
                  <c:v>0.25772600172428861</c:v>
                </c:pt>
                <c:pt idx="106">
                  <c:v>0.31424096593551942</c:v>
                </c:pt>
                <c:pt idx="107">
                  <c:v>0.34178894010963479</c:v>
                </c:pt>
                <c:pt idx="108">
                  <c:v>0.34178894010963479</c:v>
                </c:pt>
                <c:pt idx="109">
                  <c:v>0.34178894010963479</c:v>
                </c:pt>
                <c:pt idx="110">
                  <c:v>0.34178894010963479</c:v>
                </c:pt>
                <c:pt idx="111">
                  <c:v>0.31424096593551942</c:v>
                </c:pt>
                <c:pt idx="112">
                  <c:v>0.31424096593551942</c:v>
                </c:pt>
                <c:pt idx="113">
                  <c:v>0.25772600172428861</c:v>
                </c:pt>
              </c:numCache>
            </c:numRef>
          </c:val>
          <c:smooth val="0"/>
          <c:extLst>
            <c:ext xmlns:c16="http://schemas.microsoft.com/office/drawing/2014/chart" uri="{C3380CC4-5D6E-409C-BE32-E72D297353CC}">
              <c16:uniqueId val="{00000001-BDAA-4DE3-9E6D-947112751A5C}"/>
            </c:ext>
          </c:extLst>
        </c:ser>
        <c:dLbls>
          <c:showLegendKey val="0"/>
          <c:showVal val="0"/>
          <c:showCatName val="0"/>
          <c:showSerName val="0"/>
          <c:showPercent val="0"/>
          <c:showBubbleSize val="0"/>
        </c:dLbls>
        <c:marker val="1"/>
        <c:smooth val="0"/>
        <c:axId val="191919904"/>
        <c:axId val="191938624"/>
      </c:lineChart>
      <c:lineChart>
        <c:grouping val="standard"/>
        <c:varyColors val="0"/>
        <c:ser>
          <c:idx val="2"/>
          <c:order val="2"/>
          <c:tx>
            <c:strRef>
              <c:f>'Win Rate'!$P$22</c:f>
              <c:strCache>
                <c:ptCount val="1"/>
                <c:pt idx="0">
                  <c:v>STDev L-20</c:v>
                </c:pt>
              </c:strCache>
            </c:strRef>
          </c:tx>
          <c:spPr>
            <a:ln w="28575" cap="rnd">
              <a:solidFill>
                <a:schemeClr val="accent3"/>
              </a:solidFill>
              <a:round/>
            </a:ln>
            <a:effectLst/>
          </c:spPr>
          <c:marker>
            <c:symbol val="none"/>
          </c:marker>
          <c:val>
            <c:numRef>
              <c:f>'Win Rate'!$P$23:$P$136</c:f>
              <c:numCache>
                <c:formatCode>0.0%</c:formatCode>
                <c:ptCount val="114"/>
                <c:pt idx="0">
                  <c:v>0.14207812711329038</c:v>
                </c:pt>
                <c:pt idx="1">
                  <c:v>0.14611816916514098</c:v>
                </c:pt>
                <c:pt idx="2">
                  <c:v>0.14568865972915498</c:v>
                </c:pt>
                <c:pt idx="3">
                  <c:v>0.14776861136083458</c:v>
                </c:pt>
                <c:pt idx="4">
                  <c:v>0.28170633733474054</c:v>
                </c:pt>
                <c:pt idx="5">
                  <c:v>0.27736457279488297</c:v>
                </c:pt>
                <c:pt idx="6">
                  <c:v>0.27616820679754667</c:v>
                </c:pt>
                <c:pt idx="7">
                  <c:v>0.27967431449767594</c:v>
                </c:pt>
                <c:pt idx="8">
                  <c:v>0.27820060192087592</c:v>
                </c:pt>
                <c:pt idx="9">
                  <c:v>0.27523739166005895</c:v>
                </c:pt>
                <c:pt idx="10">
                  <c:v>0.27452955609795371</c:v>
                </c:pt>
                <c:pt idx="11">
                  <c:v>0.2863286064091986</c:v>
                </c:pt>
                <c:pt idx="12">
                  <c:v>0.29060259305530256</c:v>
                </c:pt>
                <c:pt idx="13">
                  <c:v>0.36954538627985212</c:v>
                </c:pt>
                <c:pt idx="14">
                  <c:v>0.36957015511824459</c:v>
                </c:pt>
                <c:pt idx="15">
                  <c:v>0.42877200339048865</c:v>
                </c:pt>
                <c:pt idx="16">
                  <c:v>0.42833064635491813</c:v>
                </c:pt>
                <c:pt idx="17">
                  <c:v>0.42904252888416827</c:v>
                </c:pt>
                <c:pt idx="18">
                  <c:v>0.42930386919832231</c:v>
                </c:pt>
                <c:pt idx="19">
                  <c:v>0.43059969562483646</c:v>
                </c:pt>
                <c:pt idx="20">
                  <c:v>0.42851811270617457</c:v>
                </c:pt>
                <c:pt idx="21">
                  <c:v>0.4264577199193515</c:v>
                </c:pt>
                <c:pt idx="22">
                  <c:v>0.42769005934781151</c:v>
                </c:pt>
                <c:pt idx="23">
                  <c:v>0.42776451510060631</c:v>
                </c:pt>
                <c:pt idx="24">
                  <c:v>0.42680486735754508</c:v>
                </c:pt>
                <c:pt idx="25">
                  <c:v>0.3377953760631911</c:v>
                </c:pt>
                <c:pt idx="26">
                  <c:v>0.33724661723232241</c:v>
                </c:pt>
                <c:pt idx="27">
                  <c:v>0.35219429866191593</c:v>
                </c:pt>
                <c:pt idx="28">
                  <c:v>0.34105427922951148</c:v>
                </c:pt>
                <c:pt idx="29">
                  <c:v>0.3414978134972943</c:v>
                </c:pt>
                <c:pt idx="30">
                  <c:v>0.34205689741268064</c:v>
                </c:pt>
                <c:pt idx="31">
                  <c:v>0.33976056129776017</c:v>
                </c:pt>
                <c:pt idx="32">
                  <c:v>0.34000467462036982</c:v>
                </c:pt>
                <c:pt idx="33">
                  <c:v>0.328452733110012</c:v>
                </c:pt>
                <c:pt idx="34">
                  <c:v>0.27231780499449926</c:v>
                </c:pt>
                <c:pt idx="35">
                  <c:v>0.27474149218195387</c:v>
                </c:pt>
                <c:pt idx="36">
                  <c:v>0.19281033481359844</c:v>
                </c:pt>
                <c:pt idx="37">
                  <c:v>0.19536121785355751</c:v>
                </c:pt>
                <c:pt idx="38">
                  <c:v>0.20144548481876653</c:v>
                </c:pt>
                <c:pt idx="39">
                  <c:v>0.19890833212695558</c:v>
                </c:pt>
                <c:pt idx="40">
                  <c:v>0.19462594892903415</c:v>
                </c:pt>
                <c:pt idx="41">
                  <c:v>0.1985352949653765</c:v>
                </c:pt>
                <c:pt idx="42">
                  <c:v>0.19837539041787791</c:v>
                </c:pt>
                <c:pt idx="43">
                  <c:v>0.18308566935916462</c:v>
                </c:pt>
                <c:pt idx="44">
                  <c:v>0.18308266787776245</c:v>
                </c:pt>
                <c:pt idx="45">
                  <c:v>0.18549001897460229</c:v>
                </c:pt>
                <c:pt idx="46">
                  <c:v>0.1843615016137089</c:v>
                </c:pt>
                <c:pt idx="47">
                  <c:v>0.18499755393445297</c:v>
                </c:pt>
                <c:pt idx="48">
                  <c:v>0.14464227103024191</c:v>
                </c:pt>
                <c:pt idx="49">
                  <c:v>0.22134112162013581</c:v>
                </c:pt>
                <c:pt idx="50">
                  <c:v>0.22361593817338982</c:v>
                </c:pt>
                <c:pt idx="51">
                  <c:v>0.22555848757053551</c:v>
                </c:pt>
                <c:pt idx="52">
                  <c:v>0.22240404516471174</c:v>
                </c:pt>
                <c:pt idx="53">
                  <c:v>0.22149215494959423</c:v>
                </c:pt>
                <c:pt idx="54">
                  <c:v>0.22711592465387825</c:v>
                </c:pt>
                <c:pt idx="55">
                  <c:v>0.22496766016623118</c:v>
                </c:pt>
                <c:pt idx="56">
                  <c:v>0.2236996291547278</c:v>
                </c:pt>
                <c:pt idx="57">
                  <c:v>0.23899371296354571</c:v>
                </c:pt>
                <c:pt idx="58">
                  <c:v>0.23760304636077945</c:v>
                </c:pt>
                <c:pt idx="59">
                  <c:v>0.22850684477944377</c:v>
                </c:pt>
                <c:pt idx="60">
                  <c:v>0.23019451827461765</c:v>
                </c:pt>
                <c:pt idx="61">
                  <c:v>0.2337318050541933</c:v>
                </c:pt>
                <c:pt idx="62">
                  <c:v>0.23395748509118469</c:v>
                </c:pt>
                <c:pt idx="63">
                  <c:v>0.23965384233543194</c:v>
                </c:pt>
                <c:pt idx="64">
                  <c:v>0.24666651780003884</c:v>
                </c:pt>
                <c:pt idx="65">
                  <c:v>0.24683449439192337</c:v>
                </c:pt>
                <c:pt idx="66">
                  <c:v>0.24584268849552934</c:v>
                </c:pt>
                <c:pt idx="67">
                  <c:v>0.24834486995274827</c:v>
                </c:pt>
                <c:pt idx="68">
                  <c:v>0.25244878943887356</c:v>
                </c:pt>
                <c:pt idx="69">
                  <c:v>0.25148284892287831</c:v>
                </c:pt>
                <c:pt idx="70">
                  <c:v>0.17153634641464191</c:v>
                </c:pt>
                <c:pt idx="71">
                  <c:v>0.17183968416469136</c:v>
                </c:pt>
                <c:pt idx="72">
                  <c:v>0.17217716986591955</c:v>
                </c:pt>
                <c:pt idx="73">
                  <c:v>0.18906682706712161</c:v>
                </c:pt>
                <c:pt idx="74">
                  <c:v>0.17649330209899217</c:v>
                </c:pt>
                <c:pt idx="75">
                  <c:v>0.17370215545263126</c:v>
                </c:pt>
                <c:pt idx="76">
                  <c:v>0.25392591856439578</c:v>
                </c:pt>
                <c:pt idx="77">
                  <c:v>0.27606906752773958</c:v>
                </c:pt>
                <c:pt idx="78">
                  <c:v>0.26398269933433804</c:v>
                </c:pt>
                <c:pt idx="79">
                  <c:v>0.26434252488485827</c:v>
                </c:pt>
                <c:pt idx="80">
                  <c:v>0.26469831889236123</c:v>
                </c:pt>
                <c:pt idx="81">
                  <c:v>0.33484373749566959</c:v>
                </c:pt>
                <c:pt idx="82">
                  <c:v>0.34181277889791173</c:v>
                </c:pt>
                <c:pt idx="83">
                  <c:v>0.34352706300007485</c:v>
                </c:pt>
                <c:pt idx="84">
                  <c:v>0.34273927918266522</c:v>
                </c:pt>
                <c:pt idx="85">
                  <c:v>0.34273475101383699</c:v>
                </c:pt>
                <c:pt idx="86">
                  <c:v>0.34466631471338333</c:v>
                </c:pt>
                <c:pt idx="87">
                  <c:v>0.35077979797594888</c:v>
                </c:pt>
                <c:pt idx="88">
                  <c:v>0.34883551335988133</c:v>
                </c:pt>
                <c:pt idx="89">
                  <c:v>0.3502291851128041</c:v>
                </c:pt>
                <c:pt idx="90">
                  <c:v>0.38291783725034512</c:v>
                </c:pt>
                <c:pt idx="91">
                  <c:v>0.38080425316285471</c:v>
                </c:pt>
                <c:pt idx="92">
                  <c:v>0.47853185973619783</c:v>
                </c:pt>
                <c:pt idx="93">
                  <c:v>0.56108668357075997</c:v>
                </c:pt>
                <c:pt idx="94">
                  <c:v>0.55436983949025165</c:v>
                </c:pt>
                <c:pt idx="95">
                  <c:v>0.55738141708361189</c:v>
                </c:pt>
                <c:pt idx="96">
                  <c:v>0.55998837878696728</c:v>
                </c:pt>
                <c:pt idx="97">
                  <c:v>0.51846601274340076</c:v>
                </c:pt>
                <c:pt idx="98">
                  <c:v>0.49572199972703984</c:v>
                </c:pt>
                <c:pt idx="99">
                  <c:v>0.49420755345876632</c:v>
                </c:pt>
                <c:pt idx="100">
                  <c:v>0.49475221358902877</c:v>
                </c:pt>
                <c:pt idx="101">
                  <c:v>0.4926803532556443</c:v>
                </c:pt>
                <c:pt idx="102">
                  <c:v>0.40752179231843316</c:v>
                </c:pt>
                <c:pt idx="103">
                  <c:v>0.40758720348105598</c:v>
                </c:pt>
                <c:pt idx="104">
                  <c:v>0.45800249184608949</c:v>
                </c:pt>
                <c:pt idx="105">
                  <c:v>0.49784894212375774</c:v>
                </c:pt>
                <c:pt idx="106">
                  <c:v>0.57825272345256229</c:v>
                </c:pt>
                <c:pt idx="107">
                  <c:v>0.62450436742813842</c:v>
                </c:pt>
                <c:pt idx="108">
                  <c:v>0.60230467693131795</c:v>
                </c:pt>
                <c:pt idx="109">
                  <c:v>0.59715601042191813</c:v>
                </c:pt>
                <c:pt idx="110">
                  <c:v>0.60414708858733301</c:v>
                </c:pt>
                <c:pt idx="111">
                  <c:v>0.61456454155244211</c:v>
                </c:pt>
                <c:pt idx="112">
                  <c:v>0.62208919465056622</c:v>
                </c:pt>
                <c:pt idx="113">
                  <c:v>0.61789675784408116</c:v>
                </c:pt>
              </c:numCache>
            </c:numRef>
          </c:val>
          <c:smooth val="0"/>
          <c:extLst>
            <c:ext xmlns:c16="http://schemas.microsoft.com/office/drawing/2014/chart" uri="{C3380CC4-5D6E-409C-BE32-E72D297353CC}">
              <c16:uniqueId val="{00000002-BDAA-4DE3-9E6D-947112751A5C}"/>
            </c:ext>
          </c:extLst>
        </c:ser>
        <c:dLbls>
          <c:showLegendKey val="0"/>
          <c:showVal val="0"/>
          <c:showCatName val="0"/>
          <c:showSerName val="0"/>
          <c:showPercent val="0"/>
          <c:showBubbleSize val="0"/>
        </c:dLbls>
        <c:marker val="1"/>
        <c:smooth val="0"/>
        <c:axId val="191939584"/>
        <c:axId val="191939104"/>
      </c:lineChart>
      <c:catAx>
        <c:axId val="191919904"/>
        <c:scaling>
          <c:orientation val="minMax"/>
        </c:scaling>
        <c:delete val="1"/>
        <c:axPos val="b"/>
        <c:majorTickMark val="none"/>
        <c:minorTickMark val="none"/>
        <c:tickLblPos val="nextTo"/>
        <c:crossAx val="191938624"/>
        <c:crosses val="autoZero"/>
        <c:auto val="1"/>
        <c:lblAlgn val="ctr"/>
        <c:lblOffset val="100"/>
        <c:noMultiLvlLbl val="0"/>
      </c:catAx>
      <c:valAx>
        <c:axId val="19193862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919904"/>
        <c:crosses val="autoZero"/>
        <c:crossBetween val="between"/>
      </c:valAx>
      <c:valAx>
        <c:axId val="191939104"/>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939584"/>
        <c:crosses val="max"/>
        <c:crossBetween val="between"/>
      </c:valAx>
      <c:catAx>
        <c:axId val="191939584"/>
        <c:scaling>
          <c:orientation val="minMax"/>
        </c:scaling>
        <c:delete val="1"/>
        <c:axPos val="b"/>
        <c:majorTickMark val="out"/>
        <c:minorTickMark val="none"/>
        <c:tickLblPos val="nextTo"/>
        <c:crossAx val="1919391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Win</a:t>
            </a:r>
            <a:r>
              <a:rPr lang="en-US" b="1" baseline="0" dirty="0"/>
              <a:t> rate (last 20 deals)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none"/>
          </c:marker>
          <c:val>
            <c:numRef>
              <c:f>'Win Rate'!$Q$23:$Q$136</c:f>
              <c:numCache>
                <c:formatCode>0.0%</c:formatCode>
                <c:ptCount val="114"/>
                <c:pt idx="0">
                  <c:v>0.61904761904761907</c:v>
                </c:pt>
                <c:pt idx="1">
                  <c:v>0.61904761904761907</c:v>
                </c:pt>
                <c:pt idx="2">
                  <c:v>0.5714285714285714</c:v>
                </c:pt>
                <c:pt idx="3">
                  <c:v>0.5714285714285714</c:v>
                </c:pt>
                <c:pt idx="4">
                  <c:v>0.5714285714285714</c:v>
                </c:pt>
                <c:pt idx="5">
                  <c:v>0.5714285714285714</c:v>
                </c:pt>
                <c:pt idx="6">
                  <c:v>0.5714285714285714</c:v>
                </c:pt>
                <c:pt idx="7">
                  <c:v>0.5714285714285714</c:v>
                </c:pt>
                <c:pt idx="8">
                  <c:v>0.5714285714285714</c:v>
                </c:pt>
                <c:pt idx="9">
                  <c:v>0.5714285714285714</c:v>
                </c:pt>
                <c:pt idx="10">
                  <c:v>0.5714285714285714</c:v>
                </c:pt>
                <c:pt idx="11">
                  <c:v>0.52380952380952384</c:v>
                </c:pt>
                <c:pt idx="12">
                  <c:v>0.52380952380952384</c:v>
                </c:pt>
                <c:pt idx="13">
                  <c:v>0.52380952380952384</c:v>
                </c:pt>
                <c:pt idx="14">
                  <c:v>0.47619047619047616</c:v>
                </c:pt>
                <c:pt idx="15">
                  <c:v>0.47619047619047616</c:v>
                </c:pt>
                <c:pt idx="16">
                  <c:v>0.42857142857142855</c:v>
                </c:pt>
                <c:pt idx="17">
                  <c:v>0.38095238095238093</c:v>
                </c:pt>
                <c:pt idx="18">
                  <c:v>0.42857142857142855</c:v>
                </c:pt>
                <c:pt idx="19">
                  <c:v>0.47619047619047616</c:v>
                </c:pt>
                <c:pt idx="20">
                  <c:v>0.42857142857142855</c:v>
                </c:pt>
                <c:pt idx="21">
                  <c:v>0.42857142857142855</c:v>
                </c:pt>
                <c:pt idx="22">
                  <c:v>0.42857142857142855</c:v>
                </c:pt>
                <c:pt idx="23">
                  <c:v>0.42857142857142855</c:v>
                </c:pt>
                <c:pt idx="24">
                  <c:v>0.42857142857142855</c:v>
                </c:pt>
                <c:pt idx="25">
                  <c:v>0.38095238095238093</c:v>
                </c:pt>
                <c:pt idx="26">
                  <c:v>0.38095238095238093</c:v>
                </c:pt>
                <c:pt idx="27">
                  <c:v>0.33333333333333331</c:v>
                </c:pt>
                <c:pt idx="28">
                  <c:v>0.2857142857142857</c:v>
                </c:pt>
                <c:pt idx="29">
                  <c:v>0.2857142857142857</c:v>
                </c:pt>
                <c:pt idx="30">
                  <c:v>0.2857142857142857</c:v>
                </c:pt>
                <c:pt idx="31">
                  <c:v>0.23809523809523808</c:v>
                </c:pt>
                <c:pt idx="32">
                  <c:v>0.23809523809523808</c:v>
                </c:pt>
                <c:pt idx="33">
                  <c:v>0.23809523809523808</c:v>
                </c:pt>
                <c:pt idx="34">
                  <c:v>0.2857142857142857</c:v>
                </c:pt>
                <c:pt idx="35">
                  <c:v>0.2857142857142857</c:v>
                </c:pt>
                <c:pt idx="36">
                  <c:v>0.33333333333333331</c:v>
                </c:pt>
                <c:pt idx="37">
                  <c:v>0.38095238095238093</c:v>
                </c:pt>
                <c:pt idx="38">
                  <c:v>0.38095238095238093</c:v>
                </c:pt>
                <c:pt idx="39">
                  <c:v>0.38095238095238093</c:v>
                </c:pt>
                <c:pt idx="40">
                  <c:v>0.38095238095238093</c:v>
                </c:pt>
                <c:pt idx="41">
                  <c:v>0.42857142857142855</c:v>
                </c:pt>
                <c:pt idx="42">
                  <c:v>0.42857142857142855</c:v>
                </c:pt>
                <c:pt idx="43">
                  <c:v>0.38095238095238093</c:v>
                </c:pt>
                <c:pt idx="44">
                  <c:v>0.38095238095238093</c:v>
                </c:pt>
                <c:pt idx="45">
                  <c:v>0.38095238095238093</c:v>
                </c:pt>
                <c:pt idx="46">
                  <c:v>0.38095238095238093</c:v>
                </c:pt>
                <c:pt idx="47">
                  <c:v>0.38095238095238093</c:v>
                </c:pt>
                <c:pt idx="48">
                  <c:v>0.42857142857142855</c:v>
                </c:pt>
                <c:pt idx="49">
                  <c:v>0.42857142857142855</c:v>
                </c:pt>
                <c:pt idx="50">
                  <c:v>0.47619047619047616</c:v>
                </c:pt>
                <c:pt idx="51">
                  <c:v>0.52380952380952384</c:v>
                </c:pt>
                <c:pt idx="52">
                  <c:v>0.5714285714285714</c:v>
                </c:pt>
                <c:pt idx="53">
                  <c:v>0.5714285714285714</c:v>
                </c:pt>
                <c:pt idx="54">
                  <c:v>0.52380952380952384</c:v>
                </c:pt>
                <c:pt idx="55">
                  <c:v>0.47619047619047616</c:v>
                </c:pt>
                <c:pt idx="56">
                  <c:v>0.52380952380952384</c:v>
                </c:pt>
                <c:pt idx="57">
                  <c:v>0.52380952380952384</c:v>
                </c:pt>
                <c:pt idx="58">
                  <c:v>0.47619047619047616</c:v>
                </c:pt>
                <c:pt idx="59">
                  <c:v>0.47619047619047616</c:v>
                </c:pt>
                <c:pt idx="60">
                  <c:v>0.47619047619047616</c:v>
                </c:pt>
                <c:pt idx="61">
                  <c:v>0.42857142857142855</c:v>
                </c:pt>
                <c:pt idx="62">
                  <c:v>0.42857142857142855</c:v>
                </c:pt>
                <c:pt idx="63">
                  <c:v>0.47619047619047616</c:v>
                </c:pt>
                <c:pt idx="64">
                  <c:v>0.52380952380952384</c:v>
                </c:pt>
                <c:pt idx="65">
                  <c:v>0.5714285714285714</c:v>
                </c:pt>
                <c:pt idx="66">
                  <c:v>0.52380952380952384</c:v>
                </c:pt>
                <c:pt idx="67">
                  <c:v>0.5714285714285714</c:v>
                </c:pt>
                <c:pt idx="68">
                  <c:v>0.61904761904761907</c:v>
                </c:pt>
                <c:pt idx="69">
                  <c:v>0.5714285714285714</c:v>
                </c:pt>
                <c:pt idx="70">
                  <c:v>0.61904761904761907</c:v>
                </c:pt>
                <c:pt idx="71">
                  <c:v>0.61904761904761907</c:v>
                </c:pt>
                <c:pt idx="72">
                  <c:v>0.5714285714285714</c:v>
                </c:pt>
                <c:pt idx="73">
                  <c:v>0.52380952380952384</c:v>
                </c:pt>
                <c:pt idx="74">
                  <c:v>0.5714285714285714</c:v>
                </c:pt>
                <c:pt idx="75">
                  <c:v>0.5714285714285714</c:v>
                </c:pt>
                <c:pt idx="76">
                  <c:v>0.5714285714285714</c:v>
                </c:pt>
                <c:pt idx="77">
                  <c:v>0.52380952380952384</c:v>
                </c:pt>
                <c:pt idx="78">
                  <c:v>0.52380952380952384</c:v>
                </c:pt>
                <c:pt idx="79">
                  <c:v>0.5714285714285714</c:v>
                </c:pt>
                <c:pt idx="80">
                  <c:v>0.61904761904761907</c:v>
                </c:pt>
                <c:pt idx="81">
                  <c:v>0.5714285714285714</c:v>
                </c:pt>
                <c:pt idx="82">
                  <c:v>0.61904761904761907</c:v>
                </c:pt>
                <c:pt idx="83">
                  <c:v>0.61904761904761907</c:v>
                </c:pt>
                <c:pt idx="84">
                  <c:v>0.61904761904761907</c:v>
                </c:pt>
                <c:pt idx="85">
                  <c:v>0.61904761904761907</c:v>
                </c:pt>
                <c:pt idx="86">
                  <c:v>0.61904761904761907</c:v>
                </c:pt>
                <c:pt idx="87">
                  <c:v>0.61904761904761907</c:v>
                </c:pt>
                <c:pt idx="88">
                  <c:v>0.5714285714285714</c:v>
                </c:pt>
                <c:pt idx="89">
                  <c:v>0.5714285714285714</c:v>
                </c:pt>
                <c:pt idx="90">
                  <c:v>0.61904761904761907</c:v>
                </c:pt>
                <c:pt idx="91">
                  <c:v>0.5714285714285714</c:v>
                </c:pt>
                <c:pt idx="92">
                  <c:v>0.5714285714285714</c:v>
                </c:pt>
                <c:pt idx="93">
                  <c:v>0.61904761904761907</c:v>
                </c:pt>
                <c:pt idx="94">
                  <c:v>0.66666666666666663</c:v>
                </c:pt>
                <c:pt idx="95">
                  <c:v>0.66666666666666663</c:v>
                </c:pt>
                <c:pt idx="96">
                  <c:v>0.7142857142857143</c:v>
                </c:pt>
                <c:pt idx="97">
                  <c:v>0.7142857142857143</c:v>
                </c:pt>
                <c:pt idx="98">
                  <c:v>0.76190476190476186</c:v>
                </c:pt>
                <c:pt idx="99">
                  <c:v>0.76190476190476186</c:v>
                </c:pt>
                <c:pt idx="100">
                  <c:v>0.76190476190476186</c:v>
                </c:pt>
                <c:pt idx="101">
                  <c:v>0.76190476190476186</c:v>
                </c:pt>
                <c:pt idx="102">
                  <c:v>0.80952380952380953</c:v>
                </c:pt>
                <c:pt idx="103">
                  <c:v>0.80952380952380953</c:v>
                </c:pt>
                <c:pt idx="104">
                  <c:v>0.80952380952380953</c:v>
                </c:pt>
                <c:pt idx="105">
                  <c:v>0.80952380952380953</c:v>
                </c:pt>
                <c:pt idx="106">
                  <c:v>0.80952380952380953</c:v>
                </c:pt>
                <c:pt idx="107">
                  <c:v>0.80952380952380953</c:v>
                </c:pt>
                <c:pt idx="108">
                  <c:v>0.80952380952380953</c:v>
                </c:pt>
                <c:pt idx="109">
                  <c:v>0.80952380952380953</c:v>
                </c:pt>
                <c:pt idx="110">
                  <c:v>0.80952380952380953</c:v>
                </c:pt>
                <c:pt idx="111">
                  <c:v>0.80952380952380953</c:v>
                </c:pt>
                <c:pt idx="112">
                  <c:v>0.80952380952380953</c:v>
                </c:pt>
                <c:pt idx="113">
                  <c:v>0.76190476190476186</c:v>
                </c:pt>
              </c:numCache>
            </c:numRef>
          </c:val>
          <c:smooth val="0"/>
          <c:extLst>
            <c:ext xmlns:c16="http://schemas.microsoft.com/office/drawing/2014/chart" uri="{C3380CC4-5D6E-409C-BE32-E72D297353CC}">
              <c16:uniqueId val="{00000000-E030-41DD-9741-9A459C376321}"/>
            </c:ext>
          </c:extLst>
        </c:ser>
        <c:dLbls>
          <c:showLegendKey val="0"/>
          <c:showVal val="0"/>
          <c:showCatName val="0"/>
          <c:showSerName val="0"/>
          <c:showPercent val="0"/>
          <c:showBubbleSize val="0"/>
        </c:dLbls>
        <c:smooth val="0"/>
        <c:axId val="783873712"/>
        <c:axId val="783874192"/>
      </c:lineChart>
      <c:catAx>
        <c:axId val="783873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3874192"/>
        <c:crosses val="autoZero"/>
        <c:auto val="1"/>
        <c:lblAlgn val="ctr"/>
        <c:lblOffset val="100"/>
        <c:noMultiLvlLbl val="0"/>
      </c:catAx>
      <c:valAx>
        <c:axId val="78387419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38737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Dispersion of Returns</a:t>
            </a:r>
          </a:p>
        </c:rich>
      </c:tx>
      <c:overlay val="0"/>
    </c:title>
    <c:autoTitleDeleted val="0"/>
    <c:plotArea>
      <c:layout/>
      <c:barChart>
        <c:barDir val="col"/>
        <c:grouping val="clustered"/>
        <c:varyColors val="0"/>
        <c:ser>
          <c:idx val="0"/>
          <c:order val="0"/>
          <c:tx>
            <c:v>Capital Invested</c:v>
          </c:tx>
          <c:spPr>
            <a:solidFill>
              <a:srgbClr val="10263F"/>
            </a:solidFill>
            <a:ln>
              <a:prstDash val="solid"/>
            </a:ln>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'Loss Ratio Analysis'!$B$13:$B$18</c:f>
              <c:strCache>
                <c:ptCount val="6"/>
                <c:pt idx="0">
                  <c:v>Held at 0.0x</c:v>
                </c:pt>
                <c:pt idx="1">
                  <c:v>Between 0.0x to 1.0x</c:v>
                </c:pt>
                <c:pt idx="2">
                  <c:v>Held at 1.0x (cost)</c:v>
                </c:pt>
                <c:pt idx="3">
                  <c:v>Between 1.0x to 2.0x</c:v>
                </c:pt>
                <c:pt idx="4">
                  <c:v>Between 2.0x to 3.0x</c:v>
                </c:pt>
                <c:pt idx="5">
                  <c:v>Above 3.0x</c:v>
                </c:pt>
              </c:strCache>
            </c:strRef>
          </c:cat>
          <c:val>
            <c:numRef>
              <c:f>'Loss Ratio Analysis'!$AK$22:$AK$27</c:f>
              <c:numCache>
                <c:formatCode>_(#,##0_);_(* \(#,##0\);_(\ "-"_);_(@_)</c:formatCode>
                <c:ptCount val="6"/>
                <c:pt idx="0">
                  <c:v>1164.3000000000002</c:v>
                </c:pt>
                <c:pt idx="1">
                  <c:v>6027.35</c:v>
                </c:pt>
                <c:pt idx="2">
                  <c:v>515.4</c:v>
                </c:pt>
                <c:pt idx="3">
                  <c:v>6816.4000000000015</c:v>
                </c:pt>
                <c:pt idx="4">
                  <c:v>8182.9999999999973</c:v>
                </c:pt>
                <c:pt idx="5">
                  <c:v>5701</c:v>
                </c:pt>
              </c:numCache>
            </c:numRef>
          </c:val>
          <c:extLst>
            <c:ext xmlns:c16="http://schemas.microsoft.com/office/drawing/2014/chart" uri="{C3380CC4-5D6E-409C-BE32-E72D297353CC}">
              <c16:uniqueId val="{00000000-FE77-4796-AB13-668DB339440B}"/>
            </c:ext>
          </c:extLst>
        </c:ser>
        <c:dLbls>
          <c:showLegendKey val="0"/>
          <c:showVal val="1"/>
          <c:showCatName val="0"/>
          <c:showSerName val="0"/>
          <c:showPercent val="0"/>
          <c:showBubbleSize val="0"/>
        </c:dLbls>
        <c:gapWidth val="150"/>
        <c:axId val="10"/>
        <c:axId val="100"/>
      </c:barChart>
      <c:lineChart>
        <c:grouping val="standard"/>
        <c:varyColors val="0"/>
        <c:ser>
          <c:idx val="1"/>
          <c:order val="1"/>
          <c:tx>
            <c:v>Number of Investments</c:v>
          </c:tx>
          <c:spPr>
            <a:ln w="25400">
              <a:solidFill>
                <a:srgbClr val="C00000"/>
              </a:solidFill>
              <a:prstDash val="dash"/>
            </a:ln>
          </c:spPr>
          <c:marker>
            <c:symbol val="none"/>
          </c:marker>
          <c:val>
            <c:numRef>
              <c:f>'Loss Ratio Analysis'!$AK$13:$AK$18</c:f>
              <c:numCache>
                <c:formatCode>_(#,##0_);_(* \(#,##0\);_(\ "-"_);_(@_)</c:formatCode>
                <c:ptCount val="6"/>
                <c:pt idx="0">
                  <c:v>7</c:v>
                </c:pt>
                <c:pt idx="1">
                  <c:v>51</c:v>
                </c:pt>
                <c:pt idx="2">
                  <c:v>9</c:v>
                </c:pt>
                <c:pt idx="3">
                  <c:v>75</c:v>
                </c:pt>
                <c:pt idx="4">
                  <c:v>57</c:v>
                </c:pt>
                <c:pt idx="5">
                  <c:v>46</c:v>
                </c:pt>
              </c:numCache>
            </c:numRef>
          </c:val>
          <c:smooth val="0"/>
          <c:extLst>
            <c:ext xmlns:c16="http://schemas.microsoft.com/office/drawing/2014/chart" uri="{C3380CC4-5D6E-409C-BE32-E72D297353CC}">
              <c16:uniqueId val="{00000001-FE77-4796-AB13-668DB339440B}"/>
            </c:ext>
          </c:extLst>
        </c:ser>
        <c:dLbls>
          <c:showLegendKey val="0"/>
          <c:showVal val="0"/>
          <c:showCatName val="0"/>
          <c:showSerName val="0"/>
          <c:showPercent val="0"/>
          <c:showBubbleSize val="0"/>
        </c:dLbls>
        <c:marker val="1"/>
        <c:smooth val="0"/>
        <c:axId val="10"/>
        <c:axId val="200"/>
      </c:lineChart>
      <c:catAx>
        <c:axId val="10"/>
        <c:scaling>
          <c:orientation val="minMax"/>
        </c:scaling>
        <c:delete val="0"/>
        <c:axPos val="b"/>
        <c:numFmt formatCode="General" sourceLinked="1"/>
        <c:majorTickMark val="none"/>
        <c:minorTickMark val="none"/>
        <c:tickLblPos val="nextTo"/>
        <c:crossAx val="100"/>
        <c:crosses val="autoZero"/>
        <c:auto val="0"/>
        <c:lblAlgn val="ctr"/>
        <c:lblOffset val="100"/>
        <c:noMultiLvlLbl val="0"/>
      </c:catAx>
      <c:valAx>
        <c:axId val="100"/>
        <c:scaling>
          <c:orientation val="minMax"/>
        </c:scaling>
        <c:delete val="0"/>
        <c:axPos val="l"/>
        <c:majorGridlines>
          <c:spPr>
            <a:ln>
              <a:noFill/>
              <a:prstDash val="solid"/>
            </a:ln>
          </c:spPr>
        </c:majorGridlines>
        <c:minorGridlines>
          <c:spPr>
            <a:ln>
              <a:noFill/>
              <a:prstDash val="solid"/>
            </a:ln>
          </c:spPr>
        </c:minorGridlines>
        <c:title>
          <c:tx>
            <c:rich>
              <a:bodyPr/>
              <a:lstStyle/>
              <a:p>
                <a:pPr>
                  <a:defRPr/>
                </a:pPr>
                <a:r>
                  <a:rPr lang="en-US"/>
                  <a:t>Invested Capital (millions)</a:t>
                </a:r>
              </a:p>
            </c:rich>
          </c:tx>
          <c:overlay val="0"/>
        </c:title>
        <c:numFmt formatCode="_(#,##0_);_(* \(#,##0\);_(\ &quot;-&quot;_);_(@_)" sourceLinked="1"/>
        <c:majorTickMark val="none"/>
        <c:minorTickMark val="none"/>
        <c:tickLblPos val="nextTo"/>
        <c:crossAx val="200"/>
        <c:crosses val="autoZero"/>
        <c:crossBetween val="midCat"/>
      </c:valAx>
      <c:valAx>
        <c:axId val="200"/>
        <c:scaling>
          <c:orientation val="minMax"/>
        </c:scaling>
        <c:delete val="0"/>
        <c:axPos val="r"/>
        <c:majorGridlines>
          <c:spPr>
            <a:ln>
              <a:noFill/>
              <a:prstDash val="solid"/>
            </a:ln>
          </c:spPr>
        </c:majorGridlines>
        <c:minorGridlines>
          <c:spPr>
            <a:ln>
              <a:noFill/>
              <a:prstDash val="solid"/>
            </a:ln>
          </c:spPr>
        </c:minorGridlines>
        <c:title>
          <c:tx>
            <c:rich>
              <a:bodyPr/>
              <a:lstStyle/>
              <a:p>
                <a:pPr>
                  <a:defRPr/>
                </a:pPr>
                <a:r>
                  <a:rPr lang="en-US"/>
                  <a:t>Number of Investments</a:t>
                </a:r>
              </a:p>
            </c:rich>
          </c:tx>
          <c:overlay val="0"/>
        </c:title>
        <c:numFmt formatCode="_(#,##0_);_(* \(#,##0\);_(\ &quot;-&quot;_);_(@_)" sourceLinked="1"/>
        <c:majorTickMark val="none"/>
        <c:minorTickMark val="none"/>
        <c:tickLblPos val="nextTo"/>
        <c:crossAx val="100"/>
        <c:crosses val="max"/>
        <c:crossBetween val="midCat"/>
      </c:valAx>
    </c:plotArea>
    <c:legend>
      <c:legendPos val="b"/>
      <c:overlay val="0"/>
    </c:legend>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82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9863" y="0"/>
            <a:ext cx="3044825" cy="466725"/>
          </a:xfrm>
          <a:prstGeom prst="rect">
            <a:avLst/>
          </a:prstGeom>
        </p:spPr>
        <p:txBody>
          <a:bodyPr vert="horz" lIns="91440" tIns="45720" rIns="91440" bIns="45720" rtlCol="0"/>
          <a:lstStyle>
            <a:lvl1pPr algn="r">
              <a:defRPr sz="1200"/>
            </a:lvl1pPr>
          </a:lstStyle>
          <a:p>
            <a:fld id="{DFC22299-4C9C-4E38-8B32-2440BD8E75DF}" type="datetimeFigureOut">
              <a:rPr lang="en-US" smtClean="0"/>
              <a:t>1/18/2026</a:t>
            </a:fld>
            <a:endParaRPr lang="en-US"/>
          </a:p>
        </p:txBody>
      </p:sp>
      <p:sp>
        <p:nvSpPr>
          <p:cNvPr id="4" name="Slide Image Placeholder 3"/>
          <p:cNvSpPr>
            <a:spLocks noGrp="1" noRot="1" noChangeAspect="1"/>
          </p:cNvSpPr>
          <p:nvPr>
            <p:ph type="sldImg" idx="2"/>
          </p:nvPr>
        </p:nvSpPr>
        <p:spPr>
          <a:xfrm>
            <a:off x="1417638" y="1163638"/>
            <a:ext cx="4191000" cy="31432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3263" y="4481513"/>
            <a:ext cx="5619750" cy="36671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5550"/>
            <a:ext cx="304482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9863" y="8845550"/>
            <a:ext cx="3044825" cy="466725"/>
          </a:xfrm>
          <a:prstGeom prst="rect">
            <a:avLst/>
          </a:prstGeom>
        </p:spPr>
        <p:txBody>
          <a:bodyPr vert="horz" lIns="91440" tIns="45720" rIns="91440" bIns="45720" rtlCol="0" anchor="b"/>
          <a:lstStyle>
            <a:lvl1pPr algn="r">
              <a:defRPr sz="1200"/>
            </a:lvl1pPr>
          </a:lstStyle>
          <a:p>
            <a:fld id="{0F4A4990-6ACD-4872-909E-A4512FEED658}" type="slidenum">
              <a:rPr lang="en-US" smtClean="0"/>
              <a:t>‹#›</a:t>
            </a:fld>
            <a:endParaRPr lang="en-US"/>
          </a:p>
        </p:txBody>
      </p:sp>
    </p:spTree>
    <p:extLst>
      <p:ext uri="{BB962C8B-B14F-4D97-AF65-F5344CB8AC3E}">
        <p14:creationId xmlns:p14="http://schemas.microsoft.com/office/powerpoint/2010/main" val="123138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4A4990-6ACD-4872-909E-A4512FEED658}" type="slidenum">
              <a:rPr lang="en-US" smtClean="0"/>
              <a:t>1</a:t>
            </a:fld>
            <a:endParaRPr lang="en-US"/>
          </a:p>
        </p:txBody>
      </p:sp>
    </p:spTree>
    <p:extLst>
      <p:ext uri="{BB962C8B-B14F-4D97-AF65-F5344CB8AC3E}">
        <p14:creationId xmlns:p14="http://schemas.microsoft.com/office/powerpoint/2010/main" val="1337251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4A4990-6ACD-4872-909E-A4512FEED65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046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03A9-D11B-494C-9D2C-9766904BE83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AED352D-5C15-51AC-0C6D-D9C0AEF9258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287090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6" name="Do not remove" hidden="1">
            <a:extLst>
              <a:ext uri="{FF2B5EF4-FFF2-40B4-BE49-F238E27FC236}">
                <a16:creationId xmlns:a16="http://schemas.microsoft.com/office/drawing/2014/main" id="{C8CE77F4-2E92-708F-1173-2975A206871B}"/>
              </a:ext>
            </a:extLst>
          </p:cNvPr>
          <p:cNvSpPr/>
          <p:nvPr userDrawn="1">
            <p:custDataLst>
              <p:tags r:id="rId1"/>
            </p:custDataLst>
          </p:nvPr>
        </p:nvSpPr>
        <p:spPr>
          <a:xfrm>
            <a:off x="1"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a:extLst>
              <a:ext uri="{FF2B5EF4-FFF2-40B4-BE49-F238E27FC236}">
                <a16:creationId xmlns:a16="http://schemas.microsoft.com/office/drawing/2014/main" id="{A3BA4C36-E615-98F9-31FA-01E77496C511}"/>
              </a:ext>
            </a:extLst>
          </p:cNvPr>
          <p:cNvSpPr>
            <a:spLocks noGrp="1"/>
          </p:cNvSpPr>
          <p:nvPr>
            <p:ph type="title"/>
          </p:nvPr>
        </p:nvSpPr>
        <p:spPr>
          <a:xfrm>
            <a:off x="0" y="1"/>
            <a:ext cx="7886700" cy="759012"/>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BF9BE4E7-71F0-5852-44D5-8C760511D0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835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508AA-0FB5-9B8C-C750-97E0A6AA433B}"/>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BE086E0-DEA0-7DD1-F562-41BA1BDFB056}"/>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7260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2EBF-F666-F8C0-CA73-CF35A7D4C049}"/>
              </a:ext>
            </a:extLst>
          </p:cNvPr>
          <p:cNvSpPr>
            <a:spLocks noGrp="1"/>
          </p:cNvSpPr>
          <p:nvPr>
            <p:ph type="title"/>
          </p:nvPr>
        </p:nvSpPr>
        <p:spPr>
          <a:xfrm>
            <a:off x="0" y="3"/>
            <a:ext cx="7886700" cy="722593"/>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089E12E-8486-0911-D48D-75089A41060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838CD8-28DE-6C16-C262-E8E890A4AE1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11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BD4B8-0565-3162-7D46-72B9D97DA7BB}"/>
              </a:ext>
            </a:extLst>
          </p:cNvPr>
          <p:cNvSpPr>
            <a:spLocks noGrp="1"/>
          </p:cNvSpPr>
          <p:nvPr>
            <p:ph type="title"/>
          </p:nvPr>
        </p:nvSpPr>
        <p:spPr>
          <a:xfrm>
            <a:off x="0" y="0"/>
            <a:ext cx="7886700" cy="615016"/>
          </a:xfrm>
        </p:spPr>
        <p:txBody>
          <a:bodyPr>
            <a:norm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E1BCCAD8-D121-BC58-0D77-87B31CF4DF8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1A7E5C4-FA9A-5485-FA11-C1B1650A93B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B5369B-0523-9765-8C8B-83BFAF7C779B}"/>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2EC7331-3183-86B6-8C0C-C43E4CB40C7C}"/>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7343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ECAB-214A-D594-6865-65E53DD9C68F}"/>
              </a:ext>
            </a:extLst>
          </p:cNvPr>
          <p:cNvSpPr>
            <a:spLocks noGrp="1"/>
          </p:cNvSpPr>
          <p:nvPr>
            <p:ph type="title"/>
          </p:nvPr>
        </p:nvSpPr>
        <p:spPr>
          <a:xfrm>
            <a:off x="0" y="3"/>
            <a:ext cx="7886700" cy="644899"/>
          </a:xfrm>
        </p:spPr>
        <p:txBody>
          <a:bodyP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229116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39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D690-92CF-16C1-8851-67AF5364386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AAFEB91-1428-0790-F6A8-EE28D97412B3}"/>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D73E3D-75A8-EE4D-473C-F50A38D7333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4127962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8DA6-B99E-75BA-A4F4-9324A7C4F9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AC475C2-1426-C853-FAA2-FB8D932C3453}"/>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6FD0967-59B4-5B11-FAFB-6981E0774B7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764126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EC1F-97A3-FFD0-F5BD-C649588EF7BA}"/>
              </a:ext>
            </a:extLst>
          </p:cNvPr>
          <p:cNvSpPr>
            <a:spLocks noGrp="1"/>
          </p:cNvSpPr>
          <p:nvPr>
            <p:ph type="title"/>
          </p:nvPr>
        </p:nvSpPr>
        <p:spPr>
          <a:xfrm>
            <a:off x="0" y="0"/>
            <a:ext cx="7886700" cy="638922"/>
          </a:xfrm>
        </p:spPr>
        <p:txBody>
          <a:bodyPr>
            <a:normAutofit/>
          </a:bodyPr>
          <a:lstStyle>
            <a:lvl1pPr>
              <a:defRPr sz="2400"/>
            </a:lvl1pPr>
          </a:lstStyle>
          <a:p>
            <a:r>
              <a:rPr lang="en-US"/>
              <a:t>Click to edit Master title style</a:t>
            </a:r>
          </a:p>
        </p:txBody>
      </p:sp>
      <p:sp>
        <p:nvSpPr>
          <p:cNvPr id="3" name="Vertical Text Placeholder 2">
            <a:extLst>
              <a:ext uri="{FF2B5EF4-FFF2-40B4-BE49-F238E27FC236}">
                <a16:creationId xmlns:a16="http://schemas.microsoft.com/office/drawing/2014/main" id="{8FA494EE-0950-2AEF-6042-82448BBC34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777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ED59B9-60A1-8599-DDB7-C17127B42009}"/>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D6C37E-2C4D-7F12-8319-123C85E54E7D}"/>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4059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solidFill>
                  <a:schemeClr val="accent1">
                    <a:lumMod val="50000"/>
                  </a:schemeClr>
                </a:solidFill>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92930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86E33A6-6AA2-F8D6-1DD4-7F69DA68555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15719"/>
            <a:ext cx="7886700" cy="603062"/>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cxnSp>
        <p:nvCxnSpPr>
          <p:cNvPr id="10" name="Straight Connector 9">
            <a:extLst>
              <a:ext uri="{FF2B5EF4-FFF2-40B4-BE49-F238E27FC236}">
                <a16:creationId xmlns:a16="http://schemas.microsoft.com/office/drawing/2014/main" id="{F4852EEA-FA85-7A9E-81E9-7FF9AD4404D4}"/>
              </a:ext>
            </a:extLst>
          </p:cNvPr>
          <p:cNvCxnSpPr/>
          <p:nvPr userDrawn="1"/>
        </p:nvCxnSpPr>
        <p:spPr>
          <a:xfrm>
            <a:off x="626888" y="818781"/>
            <a:ext cx="7909275" cy="0"/>
          </a:xfrm>
          <a:prstGeom prst="line">
            <a:avLst/>
          </a:prstGeom>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920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BA89-0DA8-AA85-64C0-AE0F843CC5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D2474-3B3F-4661-1725-A7BFE7F58902}"/>
              </a:ext>
            </a:extLst>
          </p:cNvPr>
          <p:cNvSpPr>
            <a:spLocks noGrp="1"/>
          </p:cNvSpPr>
          <p:nvPr>
            <p:ph type="dt" sz="half" idx="10"/>
          </p:nvPr>
        </p:nvSpPr>
        <p:spPr/>
        <p:txBody>
          <a:bodyPr/>
          <a:lstStyle/>
          <a:p>
            <a:fld id="{C764DE79-268F-4C1A-8933-263129D2AF90}" type="datetimeFigureOut">
              <a:rPr lang="en-US" smtClean="0"/>
              <a:t>1/18/2026</a:t>
            </a:fld>
            <a:endParaRPr lang="en-US"/>
          </a:p>
        </p:txBody>
      </p:sp>
      <p:sp>
        <p:nvSpPr>
          <p:cNvPr id="4" name="Footer Placeholder 3">
            <a:extLst>
              <a:ext uri="{FF2B5EF4-FFF2-40B4-BE49-F238E27FC236}">
                <a16:creationId xmlns:a16="http://schemas.microsoft.com/office/drawing/2014/main" id="{0B4D9B6C-950A-F7FE-E98A-F0F442DB6F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3BFB74-4D96-1DC9-9988-2D1DD27C749A}"/>
              </a:ext>
            </a:extLst>
          </p:cNvPr>
          <p:cNvSpPr>
            <a:spLocks noGrp="1"/>
          </p:cNvSpPr>
          <p:nvPr>
            <p:ph type="sldNum" sz="quarter" idx="12"/>
          </p:nvPr>
        </p:nvSpPr>
        <p:spPr/>
        <p:txBody>
          <a:bodyPr/>
          <a:lstStyle/>
          <a:p>
            <a:fld id="{48F63A3B-78C7-47BE-AE5E-E10140E04643}" type="slidenum">
              <a:rPr lang="en-US" smtClean="0"/>
              <a:t>‹#›</a:t>
            </a:fld>
            <a:endParaRPr lang="en-US"/>
          </a:p>
        </p:txBody>
      </p:sp>
      <p:cxnSp>
        <p:nvCxnSpPr>
          <p:cNvPr id="6" name="Straight Connector 5">
            <a:extLst>
              <a:ext uri="{FF2B5EF4-FFF2-40B4-BE49-F238E27FC236}">
                <a16:creationId xmlns:a16="http://schemas.microsoft.com/office/drawing/2014/main" id="{32168EA2-FD6E-4AB6-95C8-7A0D7C80943C}"/>
              </a:ext>
            </a:extLst>
          </p:cNvPr>
          <p:cNvCxnSpPr/>
          <p:nvPr userDrawn="1"/>
        </p:nvCxnSpPr>
        <p:spPr>
          <a:xfrm>
            <a:off x="626888" y="1366839"/>
            <a:ext cx="79092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35D27CA0-940E-6245-A697-3CE229D9EE80}"/>
              </a:ext>
            </a:extLst>
          </p:cNvPr>
          <p:cNvSpPr>
            <a:spLocks noGrp="1"/>
          </p:cNvSpPr>
          <p:nvPr>
            <p:ph sz="quarter" idx="13"/>
          </p:nvPr>
        </p:nvSpPr>
        <p:spPr>
          <a:xfrm>
            <a:off x="626888" y="2228524"/>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8FECC5F-F1BF-7BC6-A3C8-37BBE10F3397}"/>
              </a:ext>
            </a:extLst>
          </p:cNvPr>
          <p:cNvSpPr>
            <a:spLocks noGrp="1"/>
          </p:cNvSpPr>
          <p:nvPr>
            <p:ph type="body" sz="quarter" idx="14" hasCustomPrompt="1"/>
          </p:nvPr>
        </p:nvSpPr>
        <p:spPr>
          <a:xfrm>
            <a:off x="626888" y="1778002"/>
            <a:ext cx="3868911" cy="914400"/>
          </a:xfrm>
        </p:spPr>
        <p:txBody>
          <a:bodyPr/>
          <a:lstStyle>
            <a:lvl1pPr marL="0" indent="0">
              <a:buNone/>
              <a:defRPr/>
            </a:lvl1pPr>
          </a:lstStyle>
          <a:p>
            <a:pPr lvl="0"/>
            <a:r>
              <a:rPr lang="en-US"/>
              <a:t>Title</a:t>
            </a:r>
          </a:p>
        </p:txBody>
      </p:sp>
      <p:sp>
        <p:nvSpPr>
          <p:cNvPr id="13" name="Content Placeholder 7">
            <a:extLst>
              <a:ext uri="{FF2B5EF4-FFF2-40B4-BE49-F238E27FC236}">
                <a16:creationId xmlns:a16="http://schemas.microsoft.com/office/drawing/2014/main" id="{E8C1351B-3678-B58B-2F4B-37B2824456C6}"/>
              </a:ext>
            </a:extLst>
          </p:cNvPr>
          <p:cNvSpPr>
            <a:spLocks noGrp="1"/>
          </p:cNvSpPr>
          <p:nvPr>
            <p:ph sz="quarter" idx="15"/>
          </p:nvPr>
        </p:nvSpPr>
        <p:spPr>
          <a:xfrm>
            <a:off x="4667252" y="224836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BEAF2443-66E7-D40D-5458-2E3EC8D817BB}"/>
              </a:ext>
            </a:extLst>
          </p:cNvPr>
          <p:cNvSpPr>
            <a:spLocks noGrp="1"/>
          </p:cNvSpPr>
          <p:nvPr>
            <p:ph type="body" sz="quarter" idx="16" hasCustomPrompt="1"/>
          </p:nvPr>
        </p:nvSpPr>
        <p:spPr>
          <a:xfrm>
            <a:off x="4667252" y="1797847"/>
            <a:ext cx="3868911" cy="914400"/>
          </a:xfrm>
        </p:spPr>
        <p:txBody>
          <a:bodyPr/>
          <a:lstStyle>
            <a:lvl1pPr marL="0" indent="0">
              <a:buNone/>
              <a:defRPr/>
            </a:lvl1pPr>
          </a:lstStyle>
          <a:p>
            <a:pPr lvl="0"/>
            <a:r>
              <a:rPr lang="en-US"/>
              <a:t>Title</a:t>
            </a:r>
          </a:p>
        </p:txBody>
      </p:sp>
      <p:sp>
        <p:nvSpPr>
          <p:cNvPr id="15" name="Content Placeholder 7">
            <a:extLst>
              <a:ext uri="{FF2B5EF4-FFF2-40B4-BE49-F238E27FC236}">
                <a16:creationId xmlns:a16="http://schemas.microsoft.com/office/drawing/2014/main" id="{B8D3A15C-3E24-0557-F6CC-A67F20C26376}"/>
              </a:ext>
            </a:extLst>
          </p:cNvPr>
          <p:cNvSpPr>
            <a:spLocks noGrp="1"/>
          </p:cNvSpPr>
          <p:nvPr>
            <p:ph sz="quarter" idx="17"/>
          </p:nvPr>
        </p:nvSpPr>
        <p:spPr>
          <a:xfrm>
            <a:off x="626887" y="464469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B07626A4-533C-21DE-220F-B40A6C1CE04C}"/>
              </a:ext>
            </a:extLst>
          </p:cNvPr>
          <p:cNvSpPr>
            <a:spLocks noGrp="1"/>
          </p:cNvSpPr>
          <p:nvPr>
            <p:ph type="body" sz="quarter" idx="18" hasCustomPrompt="1"/>
          </p:nvPr>
        </p:nvSpPr>
        <p:spPr>
          <a:xfrm>
            <a:off x="626887" y="4194177"/>
            <a:ext cx="3868911" cy="914400"/>
          </a:xfrm>
        </p:spPr>
        <p:txBody>
          <a:bodyPr/>
          <a:lstStyle>
            <a:lvl1pPr marL="0" indent="0">
              <a:buNone/>
              <a:defRPr/>
            </a:lvl1pPr>
          </a:lstStyle>
          <a:p>
            <a:pPr lvl="0"/>
            <a:r>
              <a:rPr lang="en-US"/>
              <a:t>Title</a:t>
            </a:r>
          </a:p>
        </p:txBody>
      </p:sp>
      <p:sp>
        <p:nvSpPr>
          <p:cNvPr id="17" name="Content Placeholder 7">
            <a:extLst>
              <a:ext uri="{FF2B5EF4-FFF2-40B4-BE49-F238E27FC236}">
                <a16:creationId xmlns:a16="http://schemas.microsoft.com/office/drawing/2014/main" id="{1BFBE854-DF0B-23BC-118B-FA531EB66D78}"/>
              </a:ext>
            </a:extLst>
          </p:cNvPr>
          <p:cNvSpPr>
            <a:spLocks noGrp="1"/>
          </p:cNvSpPr>
          <p:nvPr>
            <p:ph sz="quarter" idx="19"/>
          </p:nvPr>
        </p:nvSpPr>
        <p:spPr>
          <a:xfrm>
            <a:off x="4667252" y="4661367"/>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1">
            <a:extLst>
              <a:ext uri="{FF2B5EF4-FFF2-40B4-BE49-F238E27FC236}">
                <a16:creationId xmlns:a16="http://schemas.microsoft.com/office/drawing/2014/main" id="{A120711E-5643-8F3F-4D83-E3DD2BD640EA}"/>
              </a:ext>
            </a:extLst>
          </p:cNvPr>
          <p:cNvSpPr>
            <a:spLocks noGrp="1"/>
          </p:cNvSpPr>
          <p:nvPr>
            <p:ph type="body" sz="quarter" idx="20" hasCustomPrompt="1"/>
          </p:nvPr>
        </p:nvSpPr>
        <p:spPr>
          <a:xfrm>
            <a:off x="4667252" y="4210845"/>
            <a:ext cx="3868911" cy="914400"/>
          </a:xfrm>
        </p:spPr>
        <p:txBody>
          <a:bodyPr/>
          <a:lstStyle>
            <a:lvl1pPr marL="0" indent="0">
              <a:buNone/>
              <a:defRPr/>
            </a:lvl1pPr>
          </a:lstStyle>
          <a:p>
            <a:pPr lvl="0"/>
            <a:r>
              <a:rPr lang="en-US"/>
              <a:t>Title</a:t>
            </a:r>
          </a:p>
        </p:txBody>
      </p:sp>
    </p:spTree>
    <p:extLst>
      <p:ext uri="{BB962C8B-B14F-4D97-AF65-F5344CB8AC3E}">
        <p14:creationId xmlns:p14="http://schemas.microsoft.com/office/powerpoint/2010/main" val="1507351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0535DEF-82BA-8D66-408E-9CC4EC77F3C7}"/>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126294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9058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9370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55234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2743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152231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56143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486865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13761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solidFill>
                  <a:schemeClr val="accent1">
                    <a:lumMod val="50000"/>
                  </a:schemeClr>
                </a:solidFill>
              </a:defRPr>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691770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Do not remove" hidden="1">
            <a:extLst>
              <a:ext uri="{FF2B5EF4-FFF2-40B4-BE49-F238E27FC236}">
                <a16:creationId xmlns:a16="http://schemas.microsoft.com/office/drawing/2014/main" id="{38DEDDBB-7C39-ECD2-7CD2-E0CF7732159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215719"/>
            <a:ext cx="7886700" cy="603062"/>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cxnSp>
        <p:nvCxnSpPr>
          <p:cNvPr id="10" name="Straight Connector 9">
            <a:extLst>
              <a:ext uri="{FF2B5EF4-FFF2-40B4-BE49-F238E27FC236}">
                <a16:creationId xmlns:a16="http://schemas.microsoft.com/office/drawing/2014/main" id="{F4852EEA-FA85-7A9E-81E9-7FF9AD4404D4}"/>
              </a:ext>
            </a:extLst>
          </p:cNvPr>
          <p:cNvCxnSpPr/>
          <p:nvPr userDrawn="1"/>
        </p:nvCxnSpPr>
        <p:spPr>
          <a:xfrm>
            <a:off x="626888" y="818781"/>
            <a:ext cx="7909275" cy="0"/>
          </a:xfrm>
          <a:prstGeom prst="line">
            <a:avLst/>
          </a:prstGeom>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1875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BA89-0DA8-AA85-64C0-AE0F843CC5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D2474-3B3F-4661-1725-A7BFE7F58902}"/>
              </a:ext>
            </a:extLst>
          </p:cNvPr>
          <p:cNvSpPr>
            <a:spLocks noGrp="1"/>
          </p:cNvSpPr>
          <p:nvPr>
            <p:ph type="dt" sz="half" idx="10"/>
          </p:nvPr>
        </p:nvSpPr>
        <p:spPr/>
        <p:txBody>
          <a:bodyPr/>
          <a:lstStyle/>
          <a:p>
            <a:fld id="{C764DE79-268F-4C1A-8933-263129D2AF90}" type="datetimeFigureOut">
              <a:rPr lang="en-US" smtClean="0"/>
              <a:t>1/18/2026</a:t>
            </a:fld>
            <a:endParaRPr lang="en-US" dirty="0"/>
          </a:p>
        </p:txBody>
      </p:sp>
      <p:sp>
        <p:nvSpPr>
          <p:cNvPr id="4" name="Footer Placeholder 3">
            <a:extLst>
              <a:ext uri="{FF2B5EF4-FFF2-40B4-BE49-F238E27FC236}">
                <a16:creationId xmlns:a16="http://schemas.microsoft.com/office/drawing/2014/main" id="{0B4D9B6C-950A-F7FE-E98A-F0F442DB6F2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3BFB74-4D96-1DC9-9988-2D1DD27C749A}"/>
              </a:ext>
            </a:extLst>
          </p:cNvPr>
          <p:cNvSpPr>
            <a:spLocks noGrp="1"/>
          </p:cNvSpPr>
          <p:nvPr>
            <p:ph type="sldNum" sz="quarter" idx="12"/>
          </p:nvPr>
        </p:nvSpPr>
        <p:spPr/>
        <p:txBody>
          <a:bodyPr/>
          <a:lstStyle/>
          <a:p>
            <a:fld id="{48F63A3B-78C7-47BE-AE5E-E10140E04643}" type="slidenum">
              <a:rPr lang="en-US" smtClean="0"/>
              <a:t>‹#›</a:t>
            </a:fld>
            <a:endParaRPr lang="en-US" dirty="0"/>
          </a:p>
        </p:txBody>
      </p:sp>
      <p:cxnSp>
        <p:nvCxnSpPr>
          <p:cNvPr id="6" name="Straight Connector 5">
            <a:extLst>
              <a:ext uri="{FF2B5EF4-FFF2-40B4-BE49-F238E27FC236}">
                <a16:creationId xmlns:a16="http://schemas.microsoft.com/office/drawing/2014/main" id="{32168EA2-FD6E-4AB6-95C8-7A0D7C80943C}"/>
              </a:ext>
            </a:extLst>
          </p:cNvPr>
          <p:cNvCxnSpPr/>
          <p:nvPr userDrawn="1"/>
        </p:nvCxnSpPr>
        <p:spPr>
          <a:xfrm>
            <a:off x="626888" y="1366839"/>
            <a:ext cx="79092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35D27CA0-940E-6245-A697-3CE229D9EE80}"/>
              </a:ext>
            </a:extLst>
          </p:cNvPr>
          <p:cNvSpPr>
            <a:spLocks noGrp="1"/>
          </p:cNvSpPr>
          <p:nvPr>
            <p:ph sz="quarter" idx="13"/>
          </p:nvPr>
        </p:nvSpPr>
        <p:spPr>
          <a:xfrm>
            <a:off x="626888" y="2228524"/>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8FECC5F-F1BF-7BC6-A3C8-37BBE10F3397}"/>
              </a:ext>
            </a:extLst>
          </p:cNvPr>
          <p:cNvSpPr>
            <a:spLocks noGrp="1"/>
          </p:cNvSpPr>
          <p:nvPr>
            <p:ph type="body" sz="quarter" idx="14" hasCustomPrompt="1"/>
          </p:nvPr>
        </p:nvSpPr>
        <p:spPr>
          <a:xfrm>
            <a:off x="626888" y="1778002"/>
            <a:ext cx="3868911" cy="914400"/>
          </a:xfrm>
        </p:spPr>
        <p:txBody>
          <a:bodyPr/>
          <a:lstStyle>
            <a:lvl1pPr marL="0" indent="0">
              <a:buNone/>
              <a:defRPr/>
            </a:lvl1pPr>
          </a:lstStyle>
          <a:p>
            <a:pPr lvl="0"/>
            <a:r>
              <a:rPr lang="en-US" dirty="0"/>
              <a:t>Title</a:t>
            </a:r>
          </a:p>
        </p:txBody>
      </p:sp>
      <p:sp>
        <p:nvSpPr>
          <p:cNvPr id="13" name="Content Placeholder 7">
            <a:extLst>
              <a:ext uri="{FF2B5EF4-FFF2-40B4-BE49-F238E27FC236}">
                <a16:creationId xmlns:a16="http://schemas.microsoft.com/office/drawing/2014/main" id="{E8C1351B-3678-B58B-2F4B-37B2824456C6}"/>
              </a:ext>
            </a:extLst>
          </p:cNvPr>
          <p:cNvSpPr>
            <a:spLocks noGrp="1"/>
          </p:cNvSpPr>
          <p:nvPr>
            <p:ph sz="quarter" idx="15"/>
          </p:nvPr>
        </p:nvSpPr>
        <p:spPr>
          <a:xfrm>
            <a:off x="4667252" y="2248369"/>
            <a:ext cx="3868912" cy="12833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1">
            <a:extLst>
              <a:ext uri="{FF2B5EF4-FFF2-40B4-BE49-F238E27FC236}">
                <a16:creationId xmlns:a16="http://schemas.microsoft.com/office/drawing/2014/main" id="{BEAF2443-66E7-D40D-5458-2E3EC8D817BB}"/>
              </a:ext>
            </a:extLst>
          </p:cNvPr>
          <p:cNvSpPr>
            <a:spLocks noGrp="1"/>
          </p:cNvSpPr>
          <p:nvPr>
            <p:ph type="body" sz="quarter" idx="16" hasCustomPrompt="1"/>
          </p:nvPr>
        </p:nvSpPr>
        <p:spPr>
          <a:xfrm>
            <a:off x="4667252" y="1797847"/>
            <a:ext cx="3868911" cy="914400"/>
          </a:xfrm>
        </p:spPr>
        <p:txBody>
          <a:bodyPr/>
          <a:lstStyle>
            <a:lvl1pPr marL="0" indent="0">
              <a:buNone/>
              <a:defRPr/>
            </a:lvl1pPr>
          </a:lstStyle>
          <a:p>
            <a:pPr lvl="0"/>
            <a:r>
              <a:rPr lang="en-US" dirty="0"/>
              <a:t>Title</a:t>
            </a:r>
          </a:p>
        </p:txBody>
      </p:sp>
      <p:sp>
        <p:nvSpPr>
          <p:cNvPr id="15" name="Content Placeholder 7">
            <a:extLst>
              <a:ext uri="{FF2B5EF4-FFF2-40B4-BE49-F238E27FC236}">
                <a16:creationId xmlns:a16="http://schemas.microsoft.com/office/drawing/2014/main" id="{B8D3A15C-3E24-0557-F6CC-A67F20C26376}"/>
              </a:ext>
            </a:extLst>
          </p:cNvPr>
          <p:cNvSpPr>
            <a:spLocks noGrp="1"/>
          </p:cNvSpPr>
          <p:nvPr>
            <p:ph sz="quarter" idx="17"/>
          </p:nvPr>
        </p:nvSpPr>
        <p:spPr>
          <a:xfrm>
            <a:off x="626887" y="464469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B07626A4-533C-21DE-220F-B40A6C1CE04C}"/>
              </a:ext>
            </a:extLst>
          </p:cNvPr>
          <p:cNvSpPr>
            <a:spLocks noGrp="1"/>
          </p:cNvSpPr>
          <p:nvPr>
            <p:ph type="body" sz="quarter" idx="18" hasCustomPrompt="1"/>
          </p:nvPr>
        </p:nvSpPr>
        <p:spPr>
          <a:xfrm>
            <a:off x="626887" y="4194177"/>
            <a:ext cx="3868911" cy="914400"/>
          </a:xfrm>
        </p:spPr>
        <p:txBody>
          <a:bodyPr/>
          <a:lstStyle>
            <a:lvl1pPr marL="0" indent="0">
              <a:buNone/>
              <a:defRPr/>
            </a:lvl1pPr>
          </a:lstStyle>
          <a:p>
            <a:pPr lvl="0"/>
            <a:r>
              <a:rPr lang="en-US" dirty="0"/>
              <a:t>Title</a:t>
            </a:r>
          </a:p>
        </p:txBody>
      </p:sp>
      <p:sp>
        <p:nvSpPr>
          <p:cNvPr id="17" name="Content Placeholder 7">
            <a:extLst>
              <a:ext uri="{FF2B5EF4-FFF2-40B4-BE49-F238E27FC236}">
                <a16:creationId xmlns:a16="http://schemas.microsoft.com/office/drawing/2014/main" id="{1BFBE854-DF0B-23BC-118B-FA531EB66D78}"/>
              </a:ext>
            </a:extLst>
          </p:cNvPr>
          <p:cNvSpPr>
            <a:spLocks noGrp="1"/>
          </p:cNvSpPr>
          <p:nvPr>
            <p:ph sz="quarter" idx="19"/>
          </p:nvPr>
        </p:nvSpPr>
        <p:spPr>
          <a:xfrm>
            <a:off x="4667252" y="4661367"/>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1">
            <a:extLst>
              <a:ext uri="{FF2B5EF4-FFF2-40B4-BE49-F238E27FC236}">
                <a16:creationId xmlns:a16="http://schemas.microsoft.com/office/drawing/2014/main" id="{A120711E-5643-8F3F-4D83-E3DD2BD640EA}"/>
              </a:ext>
            </a:extLst>
          </p:cNvPr>
          <p:cNvSpPr>
            <a:spLocks noGrp="1"/>
          </p:cNvSpPr>
          <p:nvPr>
            <p:ph type="body" sz="quarter" idx="20" hasCustomPrompt="1"/>
          </p:nvPr>
        </p:nvSpPr>
        <p:spPr>
          <a:xfrm>
            <a:off x="4667252" y="4210845"/>
            <a:ext cx="3868911" cy="914400"/>
          </a:xfrm>
        </p:spPr>
        <p:txBody>
          <a:bodyPr/>
          <a:lstStyle>
            <a:lvl1pPr marL="0" indent="0">
              <a:buNone/>
              <a:defRPr/>
            </a:lvl1pPr>
          </a:lstStyle>
          <a:p>
            <a:pPr lvl="0"/>
            <a:r>
              <a:rPr lang="en-US" dirty="0"/>
              <a:t>Title</a:t>
            </a:r>
          </a:p>
        </p:txBody>
      </p:sp>
    </p:spTree>
    <p:extLst>
      <p:ext uri="{BB962C8B-B14F-4D97-AF65-F5344CB8AC3E}">
        <p14:creationId xmlns:p14="http://schemas.microsoft.com/office/powerpoint/2010/main" val="9164558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0535DEF-82BA-8D66-408E-9CC4EC77F3C7}"/>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683187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07093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031860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492122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55393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02581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965411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948331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8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CEE2BF-ED9D-CD5B-ACDD-77C824A921F2}"/>
              </a:ext>
            </a:extLst>
          </p:cNvPr>
          <p:cNvSpPr>
            <a:spLocks noGrp="1"/>
          </p:cNvSpPr>
          <p:nvPr>
            <p:ph type="title"/>
          </p:nvPr>
        </p:nvSpPr>
        <p:spPr>
          <a:xfrm>
            <a:off x="0" y="3"/>
            <a:ext cx="7886700" cy="6030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D121CD-7C45-58F6-F2D2-4BAFE1A5851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3ECC490-95F5-DABC-BAAE-532CAA82DD5B}"/>
              </a:ext>
            </a:extLst>
          </p:cNvPr>
          <p:cNvSpPr>
            <a:spLocks noGrp="1"/>
          </p:cNvSpPr>
          <p:nvPr>
            <p:ph type="ftr" sz="quarter" idx="3"/>
          </p:nvPr>
        </p:nvSpPr>
        <p:spPr>
          <a:xfrm>
            <a:off x="173691" y="6416118"/>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pic>
        <p:nvPicPr>
          <p:cNvPr id="10" name="Picture 9" descr="A close up of a logo&#10;&#10;Description automatically generated">
            <a:extLst>
              <a:ext uri="{FF2B5EF4-FFF2-40B4-BE49-F238E27FC236}">
                <a16:creationId xmlns:a16="http://schemas.microsoft.com/office/drawing/2014/main" id="{ECE8DE18-2809-8C78-D2E0-337F8B5C139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4" name="TextBox 3">
            <a:extLst>
              <a:ext uri="{FF2B5EF4-FFF2-40B4-BE49-F238E27FC236}">
                <a16:creationId xmlns:a16="http://schemas.microsoft.com/office/drawing/2014/main" id="{D152BC33-6528-64C9-0A8C-6FD354647922}"/>
              </a:ext>
            </a:extLst>
          </p:cNvPr>
          <p:cNvSpPr txBox="1"/>
          <p:nvPr userDrawn="1"/>
        </p:nvSpPr>
        <p:spPr>
          <a:xfrm>
            <a:off x="6598684" y="6494792"/>
            <a:ext cx="2332690" cy="253916"/>
          </a:xfrm>
          <a:prstGeom prst="rect">
            <a:avLst/>
          </a:prstGeom>
          <a:noFill/>
        </p:spPr>
        <p:txBody>
          <a:bodyPr wrap="none" rtlCol="0">
            <a:spAutoFit/>
          </a:bodyPr>
          <a:lstStyle/>
          <a:p>
            <a:r>
              <a:rPr lang="en-US" sz="1050">
                <a:solidFill>
                  <a:srgbClr val="35353C"/>
                </a:solidFill>
              </a:rPr>
              <a:t>Privileged and Confidential Information</a:t>
            </a:r>
          </a:p>
        </p:txBody>
      </p:sp>
    </p:spTree>
    <p:extLst>
      <p:ext uri="{BB962C8B-B14F-4D97-AF65-F5344CB8AC3E}">
        <p14:creationId xmlns:p14="http://schemas.microsoft.com/office/powerpoint/2010/main" val="2183137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1" latinLnBrk="0" hangingPunct="1">
        <a:lnSpc>
          <a:spcPct val="90000"/>
        </a:lnSpc>
        <a:spcBef>
          <a:spcPct val="0"/>
        </a:spcBef>
        <a:buNone/>
        <a:defRPr sz="2400" kern="1200">
          <a:solidFill>
            <a:schemeClr val="tx1"/>
          </a:solidFill>
          <a:latin typeface="Montserrat SemiBold"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unito Sans 7pt" pitchFamily="2"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unito Sans 7pt"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unito Sans 7pt"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unito Sans 7pt"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unito Sans 7pt"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1/18/2026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pic>
        <p:nvPicPr>
          <p:cNvPr id="7" name="Picture 6" descr="A close up of a logo&#10;&#10;Description automatically generated">
            <a:extLst>
              <a:ext uri="{FF2B5EF4-FFF2-40B4-BE49-F238E27FC236}">
                <a16:creationId xmlns:a16="http://schemas.microsoft.com/office/drawing/2014/main" id="{59454955-D0E4-84C6-9B87-65BB3CE75EB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8" name="TextBox 7">
            <a:extLst>
              <a:ext uri="{FF2B5EF4-FFF2-40B4-BE49-F238E27FC236}">
                <a16:creationId xmlns:a16="http://schemas.microsoft.com/office/drawing/2014/main" id="{CF99D80B-B31E-1029-340B-2009CE6A8A4B}"/>
              </a:ext>
            </a:extLst>
          </p:cNvPr>
          <p:cNvSpPr txBox="1"/>
          <p:nvPr userDrawn="1"/>
        </p:nvSpPr>
        <p:spPr>
          <a:xfrm>
            <a:off x="6598684" y="6494792"/>
            <a:ext cx="2332690" cy="253916"/>
          </a:xfrm>
          <a:prstGeom prst="rect">
            <a:avLst/>
          </a:prstGeom>
          <a:noFill/>
        </p:spPr>
        <p:txBody>
          <a:bodyPr wrap="none" rtlCol="0">
            <a:spAutoFit/>
          </a:bodyPr>
          <a:lstStyle/>
          <a:p>
            <a:r>
              <a:rPr lang="en-US" sz="1050">
                <a:solidFill>
                  <a:srgbClr val="35353C"/>
                </a:solidFill>
              </a:rPr>
              <a:t>Privileged and Confidential Information</a:t>
            </a:r>
          </a:p>
        </p:txBody>
      </p:sp>
    </p:spTree>
    <p:extLst>
      <p:ext uri="{BB962C8B-B14F-4D97-AF65-F5344CB8AC3E}">
        <p14:creationId xmlns:p14="http://schemas.microsoft.com/office/powerpoint/2010/main" val="14753171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pic>
        <p:nvPicPr>
          <p:cNvPr id="7" name="Picture 6" descr="A close up of a logo&#10;&#10;Description automatically generated">
            <a:extLst>
              <a:ext uri="{FF2B5EF4-FFF2-40B4-BE49-F238E27FC236}">
                <a16:creationId xmlns:a16="http://schemas.microsoft.com/office/drawing/2014/main" id="{59454955-D0E4-84C6-9B87-65BB3CE75EB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8" name="TextBox 7">
            <a:extLst>
              <a:ext uri="{FF2B5EF4-FFF2-40B4-BE49-F238E27FC236}">
                <a16:creationId xmlns:a16="http://schemas.microsoft.com/office/drawing/2014/main" id="{CF99D80B-B31E-1029-340B-2009CE6A8A4B}"/>
              </a:ext>
            </a:extLst>
          </p:cNvPr>
          <p:cNvSpPr txBox="1"/>
          <p:nvPr userDrawn="1"/>
        </p:nvSpPr>
        <p:spPr>
          <a:xfrm>
            <a:off x="6598684" y="6494792"/>
            <a:ext cx="2332690" cy="253916"/>
          </a:xfrm>
          <a:prstGeom prst="rect">
            <a:avLst/>
          </a:prstGeom>
          <a:noFill/>
        </p:spPr>
        <p:txBody>
          <a:bodyPr wrap="none" rtlCol="0">
            <a:spAutoFit/>
          </a:bodyPr>
          <a:lstStyle/>
          <a:p>
            <a:r>
              <a:rPr lang="en-US" sz="1050" dirty="0">
                <a:solidFill>
                  <a:srgbClr val="35353C"/>
                </a:solidFill>
              </a:rPr>
              <a:t>Privileged and Confidential Information</a:t>
            </a:r>
          </a:p>
        </p:txBody>
      </p:sp>
    </p:spTree>
    <p:extLst>
      <p:ext uri="{BB962C8B-B14F-4D97-AF65-F5344CB8AC3E}">
        <p14:creationId xmlns:p14="http://schemas.microsoft.com/office/powerpoint/2010/main" val="306171961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71BA5-6B41-A713-8EDA-27E01E969E40}"/>
              </a:ext>
            </a:extLst>
          </p:cNvPr>
          <p:cNvSpPr>
            <a:spLocks noGrp="1"/>
          </p:cNvSpPr>
          <p:nvPr>
            <p:ph type="ctrTitle"/>
          </p:nvPr>
        </p:nvSpPr>
        <p:spPr>
          <a:xfrm>
            <a:off x="495300" y="1458278"/>
            <a:ext cx="8153400" cy="2387600"/>
          </a:xfrm>
        </p:spPr>
        <p:txBody>
          <a:bodyPr>
            <a:normAutofit/>
          </a:bodyPr>
          <a:lstStyle/>
          <a:p>
            <a:r>
              <a:rPr lang="en-US" u="sng" dirty="0"/>
              <a:t>Phase II Due Diligence</a:t>
            </a:r>
            <a:br>
              <a:rPr lang="en-US" dirty="0"/>
            </a:br>
            <a:r>
              <a:rPr lang="en-US" dirty="0"/>
              <a:t>EnCap Upstream Fund XII</a:t>
            </a:r>
          </a:p>
        </p:txBody>
      </p:sp>
      <p:sp>
        <p:nvSpPr>
          <p:cNvPr id="6" name="Subtitle 2">
            <a:extLst>
              <a:ext uri="{FF2B5EF4-FFF2-40B4-BE49-F238E27FC236}">
                <a16:creationId xmlns:a16="http://schemas.microsoft.com/office/drawing/2014/main" id="{F60B3FFB-3C9E-0B69-F271-F33DCF6222D0}"/>
              </a:ext>
            </a:extLst>
          </p:cNvPr>
          <p:cNvSpPr txBox="1">
            <a:spLocks/>
          </p:cNvSpPr>
          <p:nvPr/>
        </p:nvSpPr>
        <p:spPr>
          <a:xfrm>
            <a:off x="1143000" y="3845878"/>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a:p>
            <a:r>
              <a:rPr lang="en-US" dirty="0">
                <a:solidFill>
                  <a:schemeClr val="tx1">
                    <a:lumMod val="95000"/>
                    <a:lumOff val="5000"/>
                  </a:schemeClr>
                </a:solidFill>
              </a:rPr>
              <a:t>1/16/2026</a:t>
            </a:r>
          </a:p>
        </p:txBody>
      </p:sp>
      <p:sp>
        <p:nvSpPr>
          <p:cNvPr id="7" name="Rectangle 6">
            <a:extLst>
              <a:ext uri="{FF2B5EF4-FFF2-40B4-BE49-F238E27FC236}">
                <a16:creationId xmlns:a16="http://schemas.microsoft.com/office/drawing/2014/main" id="{BA335B65-119A-2909-ADD3-61051F380FD5}"/>
              </a:ext>
            </a:extLst>
          </p:cNvPr>
          <p:cNvSpPr/>
          <p:nvPr/>
        </p:nvSpPr>
        <p:spPr>
          <a:xfrm>
            <a:off x="2624866" y="5302493"/>
            <a:ext cx="3894268" cy="398294"/>
          </a:xfrm>
          <a:prstGeom prst="rect">
            <a:avLst/>
          </a:prstGeom>
          <a:solidFill>
            <a:schemeClr val="tx2">
              <a:lumMod val="50000"/>
            </a:schemeClr>
          </a:solidFill>
        </p:spPr>
        <p:txBody>
          <a:bodyPr vert="horz" lIns="91440" tIns="45720" rIns="91440" bIns="45720" rtlCol="0" anchor="ctr">
            <a:normAutofit/>
          </a:bodyPr>
          <a:lstStyle/>
          <a:p>
            <a:pPr algn="ctr">
              <a:lnSpc>
                <a:spcPct val="90000"/>
              </a:lnSpc>
              <a:spcBef>
                <a:spcPts val="1000"/>
              </a:spcBef>
            </a:pPr>
            <a:r>
              <a:rPr lang="en-US" sz="2000" b="1" dirty="0">
                <a:solidFill>
                  <a:schemeClr val="bg1"/>
                </a:solidFill>
              </a:rPr>
              <a:t>Phase II Score: 79%</a:t>
            </a:r>
          </a:p>
        </p:txBody>
      </p:sp>
    </p:spTree>
    <p:extLst>
      <p:ext uri="{BB962C8B-B14F-4D97-AF65-F5344CB8AC3E}">
        <p14:creationId xmlns:p14="http://schemas.microsoft.com/office/powerpoint/2010/main" val="1253605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460C-F6E4-F729-B498-BDDABE527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47510-BECB-13D2-2688-078FCAE50452}"/>
              </a:ext>
            </a:extLst>
          </p:cNvPr>
          <p:cNvSpPr>
            <a:spLocks noGrp="1"/>
          </p:cNvSpPr>
          <p:nvPr>
            <p:ph type="title"/>
          </p:nvPr>
        </p:nvSpPr>
        <p:spPr/>
        <p:txBody>
          <a:bodyPr vert="horz" lIns="91440" tIns="45720" rIns="91440" bIns="45720" rtlCol="0" anchor="ctr">
            <a:normAutofit/>
          </a:bodyPr>
          <a:lstStyle/>
          <a:p>
            <a:r>
              <a:rPr lang="en-US" sz="3300" dirty="0">
                <a:latin typeface="+mn-lt"/>
              </a:rPr>
              <a:t>Level 1 Brief: EnCap Investments</a:t>
            </a:r>
          </a:p>
        </p:txBody>
      </p:sp>
      <p:graphicFrame>
        <p:nvGraphicFramePr>
          <p:cNvPr id="3" name="Table 2">
            <a:extLst>
              <a:ext uri="{FF2B5EF4-FFF2-40B4-BE49-F238E27FC236}">
                <a16:creationId xmlns:a16="http://schemas.microsoft.com/office/drawing/2014/main" id="{610F3911-AE23-7F88-4C20-5D1BB8097BEE}"/>
              </a:ext>
            </a:extLst>
          </p:cNvPr>
          <p:cNvGraphicFramePr>
            <a:graphicFrameLocks noGrp="1"/>
          </p:cNvGraphicFramePr>
          <p:nvPr>
            <p:extLst>
              <p:ext uri="{D42A27DB-BD31-4B8C-83A1-F6EECF244321}">
                <p14:modId xmlns:p14="http://schemas.microsoft.com/office/powerpoint/2010/main" val="3036117514"/>
              </p:ext>
            </p:extLst>
          </p:nvPr>
        </p:nvGraphicFramePr>
        <p:xfrm>
          <a:off x="628650" y="927860"/>
          <a:ext cx="7999783" cy="5309889"/>
        </p:xfrm>
        <a:graphic>
          <a:graphicData uri="http://schemas.openxmlformats.org/drawingml/2006/table">
            <a:tbl>
              <a:tblPr/>
              <a:tblGrid>
                <a:gridCol w="1758406">
                  <a:extLst>
                    <a:ext uri="{9D8B030D-6E8A-4147-A177-3AD203B41FA5}">
                      <a16:colId xmlns:a16="http://schemas.microsoft.com/office/drawing/2014/main" val="1685393209"/>
                    </a:ext>
                  </a:extLst>
                </a:gridCol>
                <a:gridCol w="6241377">
                  <a:extLst>
                    <a:ext uri="{9D8B030D-6E8A-4147-A177-3AD203B41FA5}">
                      <a16:colId xmlns:a16="http://schemas.microsoft.com/office/drawing/2014/main" val="2790180255"/>
                    </a:ext>
                  </a:extLst>
                </a:gridCol>
              </a:tblGrid>
              <a:tr h="232226">
                <a:tc gridSpan="2">
                  <a:txBody>
                    <a:bodyPr/>
                    <a:lstStyle/>
                    <a:p>
                      <a:pPr algn="ctr" fontAlgn="ctr"/>
                      <a:r>
                        <a:rPr lang="en-US" sz="1200" b="1" i="0" u="none" strike="noStrike" dirty="0">
                          <a:solidFill>
                            <a:srgbClr val="FFFFFF"/>
                          </a:solidFill>
                          <a:effectLst/>
                          <a:latin typeface="Aptos Narrow" panose="020B0004020202020204" pitchFamily="34" charset="0"/>
                        </a:rPr>
                        <a:t>Level 1 - Pre-Meeting Brief</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9505B"/>
                    </a:solidFill>
                  </a:tcPr>
                </a:tc>
                <a:tc hMerge="1">
                  <a:txBody>
                    <a:bodyPr/>
                    <a:lstStyle/>
                    <a:p>
                      <a:pPr algn="ctr" fontAlgn="ctr"/>
                      <a:endParaRPr lang="en-US" sz="1200" b="1" i="0" u="none" strike="noStrike" dirty="0">
                        <a:solidFill>
                          <a:srgbClr val="FFFFFF"/>
                        </a:solidFill>
                        <a:effectLst/>
                        <a:latin typeface="Aptos Narrow" panose="020B0004020202020204" pitchFamily="34" charset="0"/>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9505B"/>
                    </a:solidFill>
                  </a:tcPr>
                </a:tc>
                <a:extLst>
                  <a:ext uri="{0D108BD9-81ED-4DB2-BD59-A6C34878D82A}">
                    <a16:rowId xmlns:a16="http://schemas.microsoft.com/office/drawing/2014/main" val="21737101"/>
                  </a:ext>
                </a:extLst>
              </a:tr>
              <a:tr h="278156">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Prepared by: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ZD, Reviewed by ES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569770"/>
                  </a:ext>
                </a:extLst>
              </a:tr>
              <a:tr h="248017">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Name / Type: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EnCap Upstream Fund XII (Fund)</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453607"/>
                  </a:ext>
                </a:extLst>
              </a:tr>
              <a:tr h="281432">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Asset Class: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Energy Private Equity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338367"/>
                  </a:ext>
                </a:extLst>
              </a:tr>
              <a:tr h="361285">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Source: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SL and ZM Relationship</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515509"/>
                  </a:ext>
                </a:extLst>
              </a:tr>
              <a:tr h="792040">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What / Description:</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EnCap Fund XII provides capital and works with existing management teams to develop strongly performing O&amp;G assets into attractive acquisitions for large strategic buyers. They build value through property acquisitions, leasehold acquisitions, and acquiring interests in O&amp;G minerals &amp; royalties.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315356"/>
                  </a:ext>
                </a:extLst>
              </a:tr>
              <a:tr h="258197">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Why / SGG Alignment:</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Energy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r h="353024">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Who / Credible Team?</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Established senior leadership with an average ~20 years at EnCap and strong Energy backgrounds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160865"/>
                  </a:ext>
                </a:extLst>
              </a:tr>
              <a:tr h="339206">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When / Size Availability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Aptos Narrow" panose="020B0004020202020204" pitchFamily="34" charset="0"/>
                          <a:ea typeface="+mn-ea"/>
                          <a:cs typeface="+mn-cs"/>
                        </a:rPr>
                        <a:t>Target: $4.5B, Closed on $3.5B as of 2024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r h="282363">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Why Not / Initial Hurdles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Aptos Narrow" panose="020B0004020202020204" pitchFamily="34" charset="0"/>
                          <a:ea typeface="+mn-ea"/>
                          <a:cs typeface="+mn-cs"/>
                        </a:rPr>
                        <a:t>Need to diligence value creation, sourcing ability, and exit strategy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r h="1063558">
                <a:tc>
                  <a:txBody>
                    <a:bodyPr/>
                    <a:lstStyle/>
                    <a:p>
                      <a:pPr marL="55563" indent="4763"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Value-add? / Historical Performance: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Upstream Fund XI – 2017, $7B, 22.2% net IRR</a:t>
                      </a:r>
                    </a:p>
                    <a:p>
                      <a:pPr marL="576072" lvl="1"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MSCI Natural Resources Benchmark: 9.2% median IRR, </a:t>
                      </a:r>
                      <a:r>
                        <a:rPr lang="en-US" sz="1200" b="1" i="1" u="sng" strike="noStrike" kern="1200" dirty="0">
                          <a:solidFill>
                            <a:srgbClr val="00B050"/>
                          </a:solidFill>
                          <a:effectLst/>
                          <a:latin typeface="Aptos Narrow" panose="020B0004020202020204" pitchFamily="34" charset="0"/>
                          <a:ea typeface="+mn-ea"/>
                          <a:cs typeface="+mn-cs"/>
                        </a:rPr>
                        <a:t>22.2% Alpha</a:t>
                      </a:r>
                    </a:p>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Upstream Fund X – 2015, $6.5B, 16.4% net IRR</a:t>
                      </a:r>
                    </a:p>
                    <a:p>
                      <a:pPr marL="576072" lvl="1"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MSCI Natural Resources Benchmark: 8.0% median IRR, </a:t>
                      </a:r>
                      <a:r>
                        <a:rPr lang="en-US" sz="1200" b="1" i="1" u="sng" strike="noStrike" kern="1200" dirty="0">
                          <a:solidFill>
                            <a:srgbClr val="00B050"/>
                          </a:solidFill>
                          <a:effectLst/>
                          <a:latin typeface="Aptos Narrow" panose="020B0004020202020204" pitchFamily="34" charset="0"/>
                          <a:ea typeface="+mn-ea"/>
                          <a:cs typeface="+mn-cs"/>
                        </a:rPr>
                        <a:t>8.4% Alpha</a:t>
                      </a:r>
                    </a:p>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Upstream Fund IX – 2013, $5B, 10.9% net IRR</a:t>
                      </a:r>
                    </a:p>
                    <a:p>
                      <a:pPr marL="576072" lvl="1"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MSCI Natural Resources Benchmark: 3.7% median IRR, </a:t>
                      </a:r>
                      <a:r>
                        <a:rPr lang="en-US" sz="1200" b="1" i="1" u="sng" strike="noStrike" kern="1200" dirty="0">
                          <a:solidFill>
                            <a:srgbClr val="00B050"/>
                          </a:solidFill>
                          <a:effectLst/>
                          <a:latin typeface="Aptos Narrow" panose="020B0004020202020204" pitchFamily="34" charset="0"/>
                          <a:ea typeface="+mn-ea"/>
                          <a:cs typeface="+mn-cs"/>
                        </a:rPr>
                        <a:t>7.2% Alpha</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788419"/>
                  </a:ext>
                </a:extLst>
              </a:tr>
              <a:tr h="337586">
                <a:tc gridSpan="2">
                  <a:txBody>
                    <a:bodyPr/>
                    <a:lstStyle/>
                    <a:p>
                      <a:pPr marL="118872" indent="0" algn="l" fontAlgn="ctr"/>
                      <a:r>
                        <a:rPr lang="en-US" sz="1200" b="1" i="0" u="none" strike="noStrike" kern="1200" dirty="0">
                          <a:solidFill>
                            <a:schemeClr val="bg1"/>
                          </a:solidFill>
                          <a:effectLst/>
                          <a:latin typeface="Aptos Narrow" panose="020B0004020202020204" pitchFamily="34" charset="0"/>
                          <a:ea typeface="+mn-ea"/>
                          <a:cs typeface="+mn-cs"/>
                        </a:rPr>
                        <a:t>CIO/Investment Team Review</a:t>
                      </a: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8C45"/>
                    </a:solidFill>
                  </a:tcPr>
                </a:tc>
                <a:tc hMerge="1">
                  <a:txBody>
                    <a:bodyPr/>
                    <a:lstStyle/>
                    <a:p>
                      <a:pPr algn="l" fontAlgn="ct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8C45"/>
                    </a:solidFill>
                  </a:tcPr>
                </a:tc>
                <a:extLst>
                  <a:ext uri="{0D108BD9-81ED-4DB2-BD59-A6C34878D82A}">
                    <a16:rowId xmlns:a16="http://schemas.microsoft.com/office/drawing/2014/main" val="4160970273"/>
                  </a:ext>
                </a:extLst>
              </a:tr>
              <a:tr h="442650">
                <a:tc>
                  <a:txBody>
                    <a:bodyPr/>
                    <a:lstStyle/>
                    <a:p>
                      <a:pPr marL="0" indent="53975" algn="l" fontAlgn="ctr"/>
                      <a:r>
                        <a:rPr lang="en-US" sz="1200" b="1" i="0" u="none" strike="noStrike" kern="1200" dirty="0">
                          <a:solidFill>
                            <a:srgbClr val="000000"/>
                          </a:solidFill>
                          <a:effectLst/>
                          <a:latin typeface="Aptos Narrow" panose="020B0004020202020204" pitchFamily="34" charset="0"/>
                          <a:ea typeface="+mn-ea"/>
                          <a:cs typeface="+mn-cs"/>
                        </a:rPr>
                        <a:t>Initial Recommendation:</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80%: Very interested, would like to move this ahead of other things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2883625"/>
                  </a:ext>
                </a:extLst>
              </a:tr>
            </a:tbl>
          </a:graphicData>
        </a:graphic>
      </p:graphicFrame>
    </p:spTree>
    <p:extLst>
      <p:ext uri="{BB962C8B-B14F-4D97-AF65-F5344CB8AC3E}">
        <p14:creationId xmlns:p14="http://schemas.microsoft.com/office/powerpoint/2010/main" val="1885950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3315-9E20-8DC9-FFFA-D1B8C5C11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141C5-4A01-681D-1B55-273576A35887}"/>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AEAABC11-7EDA-6F32-8603-CAEFF5DBBC5C}"/>
              </a:ext>
            </a:extLst>
          </p:cNvPr>
          <p:cNvGraphicFramePr>
            <a:graphicFrameLocks noGrp="1"/>
          </p:cNvGraphicFramePr>
          <p:nvPr>
            <p:extLst>
              <p:ext uri="{D42A27DB-BD31-4B8C-83A1-F6EECF244321}">
                <p14:modId xmlns:p14="http://schemas.microsoft.com/office/powerpoint/2010/main" val="3959434932"/>
              </p:ext>
            </p:extLst>
          </p:nvPr>
        </p:nvGraphicFramePr>
        <p:xfrm>
          <a:off x="572107" y="960782"/>
          <a:ext cx="7999785" cy="4403004"/>
        </p:xfrm>
        <a:graphic>
          <a:graphicData uri="http://schemas.openxmlformats.org/drawingml/2006/table">
            <a:tbl>
              <a:tblPr/>
              <a:tblGrid>
                <a:gridCol w="1409092">
                  <a:extLst>
                    <a:ext uri="{9D8B030D-6E8A-4147-A177-3AD203B41FA5}">
                      <a16:colId xmlns:a16="http://schemas.microsoft.com/office/drawing/2014/main" val="1685393209"/>
                    </a:ext>
                  </a:extLst>
                </a:gridCol>
                <a:gridCol w="5435600">
                  <a:extLst>
                    <a:ext uri="{9D8B030D-6E8A-4147-A177-3AD203B41FA5}">
                      <a16:colId xmlns:a16="http://schemas.microsoft.com/office/drawing/2014/main" val="2721326216"/>
                    </a:ext>
                  </a:extLst>
                </a:gridCol>
                <a:gridCol w="1155093">
                  <a:extLst>
                    <a:ext uri="{9D8B030D-6E8A-4147-A177-3AD203B41FA5}">
                      <a16:colId xmlns:a16="http://schemas.microsoft.com/office/drawing/2014/main" val="4092202684"/>
                    </a:ext>
                  </a:extLst>
                </a:gridCol>
              </a:tblGrid>
              <a:tr h="272826">
                <a:tc gridSpan="2">
                  <a:txBody>
                    <a:bodyPr/>
                    <a:lstStyle/>
                    <a:p>
                      <a:pPr marL="0" indent="60325" algn="ctr" defTabSz="914400" rtl="0" eaLnBrk="1" fontAlgn="ctr" latinLnBrk="0" hangingPunct="1"/>
                      <a:r>
                        <a:rPr lang="en-US" sz="1200" b="1" i="0" u="none" strike="noStrike" kern="1200" dirty="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endParaRPr lang="en-US"/>
                    </a:p>
                  </a:txBody>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272826">
                <a:tc gridSpan="3">
                  <a:txBody>
                    <a:bodyPr/>
                    <a:lstStyle/>
                    <a:p>
                      <a:pPr marL="0" indent="60325" algn="ctr"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Returns: Alpha</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hMerge="1">
                  <a:txBody>
                    <a:bodyPr/>
                    <a:lstStyle/>
                    <a:p>
                      <a:endParaRPr lang="en-US"/>
                    </a:p>
                  </a:txBody>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338367"/>
                  </a:ext>
                </a:extLst>
              </a:tr>
              <a:tr h="723058">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Quantitative Forecast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4763"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Fund Level Alpha: VIII – </a:t>
                      </a:r>
                      <a:r>
                        <a:rPr lang="en-US" sz="1200" b="1" i="0" u="none" strike="noStrike" kern="1200" dirty="0">
                          <a:solidFill>
                            <a:srgbClr val="FF0000"/>
                          </a:solidFill>
                          <a:effectLst/>
                          <a:latin typeface="Aptos Narrow" panose="020B0004020202020204" pitchFamily="34" charset="0"/>
                          <a:ea typeface="+mn-ea"/>
                          <a:cs typeface="+mn-cs"/>
                        </a:rPr>
                        <a:t>-14.2%, </a:t>
                      </a:r>
                      <a:r>
                        <a:rPr lang="en-US" sz="1200" b="0" i="0" u="none" strike="noStrike" kern="1200" dirty="0">
                          <a:solidFill>
                            <a:schemeClr val="tx1"/>
                          </a:solidFill>
                          <a:effectLst/>
                          <a:latin typeface="Aptos Narrow" panose="020B0004020202020204" pitchFamily="34" charset="0"/>
                          <a:ea typeface="+mn-ea"/>
                          <a:cs typeface="+mn-cs"/>
                        </a:rPr>
                        <a:t>IX – -</a:t>
                      </a:r>
                      <a:r>
                        <a:rPr lang="en-US" sz="1200" b="1" i="0" u="none" strike="noStrike" kern="1200" dirty="0">
                          <a:solidFill>
                            <a:srgbClr val="FF0000"/>
                          </a:solidFill>
                          <a:effectLst/>
                          <a:latin typeface="Aptos Narrow" panose="020B0004020202020204" pitchFamily="34" charset="0"/>
                          <a:ea typeface="+mn-ea"/>
                          <a:cs typeface="+mn-cs"/>
                        </a:rPr>
                        <a:t>4.4%, </a:t>
                      </a:r>
                      <a:r>
                        <a:rPr lang="en-US" sz="1200" b="0" i="0" u="none" strike="noStrike" kern="1200" dirty="0">
                          <a:solidFill>
                            <a:schemeClr val="tx1"/>
                          </a:solidFill>
                          <a:effectLst/>
                          <a:latin typeface="Aptos Narrow" panose="020B0004020202020204" pitchFamily="34" charset="0"/>
                          <a:ea typeface="+mn-ea"/>
                          <a:cs typeface="+mn-cs"/>
                        </a:rPr>
                        <a:t>X – </a:t>
                      </a:r>
                      <a:r>
                        <a:rPr lang="en-US" sz="1200" b="1" i="0" u="none" strike="noStrike" kern="1200" dirty="0">
                          <a:solidFill>
                            <a:srgbClr val="00B050"/>
                          </a:solidFill>
                          <a:effectLst/>
                          <a:latin typeface="Aptos Narrow" panose="020B0004020202020204" pitchFamily="34" charset="0"/>
                          <a:ea typeface="+mn-ea"/>
                          <a:cs typeface="+mn-cs"/>
                        </a:rPr>
                        <a:t>8.6%, </a:t>
                      </a:r>
                      <a:r>
                        <a:rPr lang="en-US" sz="1200" b="0" i="0" u="none" strike="noStrike" kern="1200" dirty="0">
                          <a:solidFill>
                            <a:schemeClr val="tx1"/>
                          </a:solidFill>
                          <a:effectLst/>
                          <a:latin typeface="Aptos Narrow" panose="020B0004020202020204" pitchFamily="34" charset="0"/>
                          <a:ea typeface="+mn-ea"/>
                          <a:cs typeface="+mn-cs"/>
                        </a:rPr>
                        <a:t>XI – </a:t>
                      </a:r>
                      <a:r>
                        <a:rPr lang="en-US" sz="1200" b="1" i="0" u="none" strike="noStrike" kern="1200" dirty="0">
                          <a:solidFill>
                            <a:srgbClr val="00B050"/>
                          </a:solidFill>
                          <a:effectLst/>
                          <a:latin typeface="Aptos Narrow" panose="020B0004020202020204" pitchFamily="34" charset="0"/>
                          <a:ea typeface="+mn-ea"/>
                          <a:cs typeface="+mn-cs"/>
                        </a:rPr>
                        <a:t>34.9%</a:t>
                      </a:r>
                    </a:p>
                    <a:p>
                      <a:pPr marL="114300" indent="4763"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Company Level Alpha: VIII – </a:t>
                      </a:r>
                      <a:r>
                        <a:rPr lang="en-US" sz="1200" b="1" i="0" u="none" strike="noStrike" kern="1200" dirty="0">
                          <a:solidFill>
                            <a:srgbClr val="FF0000"/>
                          </a:solidFill>
                          <a:effectLst/>
                          <a:latin typeface="Aptos Narrow" panose="020B0004020202020204" pitchFamily="34" charset="0"/>
                          <a:ea typeface="+mn-ea"/>
                          <a:cs typeface="+mn-cs"/>
                        </a:rPr>
                        <a:t>-16.4%, </a:t>
                      </a:r>
                      <a:r>
                        <a:rPr lang="en-US" sz="1200" b="0" i="0" u="none" strike="noStrike" kern="1200" dirty="0">
                          <a:solidFill>
                            <a:schemeClr val="tx1"/>
                          </a:solidFill>
                          <a:effectLst/>
                          <a:latin typeface="Aptos Narrow" panose="020B0004020202020204" pitchFamily="34" charset="0"/>
                          <a:ea typeface="+mn-ea"/>
                          <a:cs typeface="+mn-cs"/>
                        </a:rPr>
                        <a:t>IX – </a:t>
                      </a:r>
                      <a:r>
                        <a:rPr lang="en-US" sz="1200" b="1" i="0" u="none" strike="noStrike" kern="1200" dirty="0">
                          <a:solidFill>
                            <a:srgbClr val="FF0000"/>
                          </a:solidFill>
                          <a:effectLst/>
                          <a:latin typeface="Aptos Narrow" panose="020B0004020202020204" pitchFamily="34" charset="0"/>
                          <a:ea typeface="+mn-ea"/>
                          <a:cs typeface="+mn-cs"/>
                        </a:rPr>
                        <a:t>-10.1%</a:t>
                      </a:r>
                      <a:r>
                        <a:rPr lang="en-US" sz="1200" b="1" i="0" u="none" strike="noStrike" kern="1200" dirty="0">
                          <a:solidFill>
                            <a:srgbClr val="00B050"/>
                          </a:solidFill>
                          <a:effectLst/>
                          <a:latin typeface="Aptos Narrow" panose="020B0004020202020204" pitchFamily="34" charset="0"/>
                          <a:ea typeface="+mn-ea"/>
                          <a:cs typeface="+mn-cs"/>
                        </a:rPr>
                        <a:t> </a:t>
                      </a:r>
                      <a:r>
                        <a:rPr lang="en-US" sz="1200" b="0" i="0" u="none" strike="noStrike" kern="1200" dirty="0">
                          <a:solidFill>
                            <a:schemeClr val="tx1"/>
                          </a:solidFill>
                          <a:effectLst/>
                          <a:latin typeface="Aptos Narrow" panose="020B0004020202020204" pitchFamily="34" charset="0"/>
                          <a:ea typeface="+mn-ea"/>
                          <a:cs typeface="+mn-cs"/>
                        </a:rPr>
                        <a:t>X – </a:t>
                      </a:r>
                      <a:r>
                        <a:rPr lang="en-US" sz="1200" b="1" i="0" u="none" strike="noStrike" kern="1200" dirty="0">
                          <a:solidFill>
                            <a:srgbClr val="00B050"/>
                          </a:solidFill>
                          <a:effectLst/>
                          <a:latin typeface="Aptos Narrow" panose="020B0004020202020204" pitchFamily="34" charset="0"/>
                          <a:ea typeface="+mn-ea"/>
                          <a:cs typeface="+mn-cs"/>
                        </a:rPr>
                        <a:t>10.5%, </a:t>
                      </a:r>
                      <a:r>
                        <a:rPr lang="en-US" sz="1200" b="0" i="0" u="none" strike="noStrike" kern="1200" dirty="0">
                          <a:solidFill>
                            <a:schemeClr val="tx1"/>
                          </a:solidFill>
                          <a:effectLst/>
                          <a:latin typeface="Aptos Narrow" panose="020B0004020202020204" pitchFamily="34" charset="0"/>
                          <a:ea typeface="+mn-ea"/>
                          <a:cs typeface="+mn-cs"/>
                        </a:rPr>
                        <a:t>XI – </a:t>
                      </a:r>
                      <a:r>
                        <a:rPr lang="en-US" sz="1200" b="1" i="0" u="none" strike="noStrike" kern="1200" dirty="0">
                          <a:solidFill>
                            <a:srgbClr val="00B050"/>
                          </a:solidFill>
                          <a:effectLst/>
                          <a:latin typeface="Aptos Narrow" panose="020B0004020202020204" pitchFamily="34" charset="0"/>
                          <a:ea typeface="+mn-ea"/>
                          <a:cs typeface="+mn-cs"/>
                        </a:rPr>
                        <a:t>23.0%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70%</a:t>
                      </a: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515509"/>
                  </a:ext>
                </a:extLst>
              </a:tr>
              <a:tr h="322280">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PME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5888" marR="0" lvl="0" indent="3175"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PME Direct Alpha: VIII – </a:t>
                      </a:r>
                      <a:r>
                        <a:rPr lang="en-US" sz="1200" b="1" i="0" u="none" strike="noStrike" kern="1200" dirty="0">
                          <a:solidFill>
                            <a:srgbClr val="FF0000"/>
                          </a:solidFill>
                          <a:effectLst/>
                          <a:latin typeface="Aptos Narrow" panose="020B0004020202020204" pitchFamily="34" charset="0"/>
                          <a:ea typeface="+mn-ea"/>
                          <a:cs typeface="+mn-cs"/>
                        </a:rPr>
                        <a:t>-5.1%, </a:t>
                      </a:r>
                      <a:r>
                        <a:rPr lang="en-US" sz="1200" b="0" i="0" u="none" strike="noStrike" kern="1200" dirty="0">
                          <a:solidFill>
                            <a:schemeClr val="tx1"/>
                          </a:solidFill>
                          <a:effectLst/>
                          <a:latin typeface="Aptos Narrow" panose="020B0004020202020204" pitchFamily="34" charset="0"/>
                          <a:ea typeface="+mn-ea"/>
                          <a:cs typeface="+mn-cs"/>
                        </a:rPr>
                        <a:t>IX – </a:t>
                      </a:r>
                      <a:r>
                        <a:rPr lang="en-US" sz="1200" b="1" i="0" u="none" strike="noStrike" kern="1200" dirty="0">
                          <a:solidFill>
                            <a:srgbClr val="00B050"/>
                          </a:solidFill>
                          <a:effectLst/>
                          <a:latin typeface="Aptos Narrow" panose="020B0004020202020204" pitchFamily="34" charset="0"/>
                          <a:ea typeface="+mn-ea"/>
                          <a:cs typeface="+mn-cs"/>
                        </a:rPr>
                        <a:t>9.4%, </a:t>
                      </a:r>
                      <a:r>
                        <a:rPr lang="en-US" sz="1200" b="0" i="0" u="none" strike="noStrike" kern="1200" dirty="0">
                          <a:solidFill>
                            <a:schemeClr val="tx1"/>
                          </a:solidFill>
                          <a:effectLst/>
                          <a:latin typeface="Aptos Narrow" panose="020B0004020202020204" pitchFamily="34" charset="0"/>
                          <a:ea typeface="+mn-ea"/>
                          <a:cs typeface="+mn-cs"/>
                        </a:rPr>
                        <a:t>X – </a:t>
                      </a:r>
                      <a:r>
                        <a:rPr lang="en-US" sz="1200" b="1" i="0" u="none" strike="noStrike" kern="1200" dirty="0">
                          <a:solidFill>
                            <a:srgbClr val="00B050"/>
                          </a:solidFill>
                          <a:effectLst/>
                          <a:latin typeface="Aptos Narrow" panose="020B0004020202020204" pitchFamily="34" charset="0"/>
                          <a:ea typeface="+mn-ea"/>
                          <a:cs typeface="+mn-cs"/>
                        </a:rPr>
                        <a:t>10.8%</a:t>
                      </a:r>
                      <a:r>
                        <a:rPr lang="en-US" sz="1200" b="0" i="0" u="none" strike="noStrike" kern="1200" dirty="0">
                          <a:solidFill>
                            <a:schemeClr val="tx1"/>
                          </a:solidFill>
                          <a:effectLst/>
                          <a:latin typeface="Aptos Narrow" panose="020B0004020202020204" pitchFamily="34" charset="0"/>
                          <a:ea typeface="+mn-ea"/>
                          <a:cs typeface="+mn-cs"/>
                        </a:rPr>
                        <a:t>, XI – </a:t>
                      </a:r>
                      <a:r>
                        <a:rPr lang="en-US" sz="1200" b="1" i="0" u="none" strike="noStrike" kern="1200" dirty="0">
                          <a:solidFill>
                            <a:srgbClr val="00B050"/>
                          </a:solidFill>
                          <a:effectLst/>
                          <a:latin typeface="Aptos Narrow" panose="020B0004020202020204" pitchFamily="34" charset="0"/>
                          <a:ea typeface="+mn-ea"/>
                          <a:cs typeface="+mn-cs"/>
                        </a:rPr>
                        <a:t>16.3%</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315356"/>
                  </a:ext>
                </a:extLst>
              </a:tr>
              <a:tr h="402894">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Monte Carlo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5888" indent="3175"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Monte Carlo generated a Mean Alpha of </a:t>
                      </a:r>
                      <a:r>
                        <a:rPr lang="en-US" sz="1200" b="1" i="0" u="none" strike="noStrike" kern="1200" dirty="0">
                          <a:solidFill>
                            <a:srgbClr val="00B050"/>
                          </a:solidFill>
                          <a:effectLst/>
                          <a:latin typeface="Aptos Narrow" panose="020B0004020202020204" pitchFamily="34" charset="0"/>
                          <a:ea typeface="+mn-ea"/>
                          <a:cs typeface="+mn-cs"/>
                        </a:rPr>
                        <a:t>26.9%.</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85%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6875681"/>
                  </a:ext>
                </a:extLst>
              </a:tr>
              <a:tr h="272826">
                <a:tc gridSpan="3">
                  <a:txBody>
                    <a:bodyPr/>
                    <a:lstStyle/>
                    <a:p>
                      <a:pPr marL="52388"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Returns: Quality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hMerge="1">
                  <a:txBody>
                    <a:bodyPr/>
                    <a:lstStyle/>
                    <a:p>
                      <a:endParaRPr lang="en-US"/>
                    </a:p>
                  </a:txBody>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r h="536389">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Historical Leverage Used</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0"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Borrowing cannot exceed $400MM (&lt;10% of commitments).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dirty="0">
                          <a:solidFill>
                            <a:srgbClr val="0000FF"/>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160865"/>
                  </a:ext>
                </a:extLst>
              </a:tr>
              <a:tr h="536389">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Loss Ratio</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0"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EnCap has generated a total loss ratio of </a:t>
                      </a:r>
                      <a:r>
                        <a:rPr lang="en-US" sz="1200" b="1" i="0" u="none" strike="noStrike" kern="1200" dirty="0">
                          <a:solidFill>
                            <a:schemeClr val="tx1"/>
                          </a:solidFill>
                          <a:effectLst/>
                          <a:latin typeface="Aptos Narrow" panose="020B0004020202020204" pitchFamily="34" charset="0"/>
                          <a:ea typeface="+mn-ea"/>
                          <a:cs typeface="+mn-cs"/>
                        </a:rPr>
                        <a:t>25%</a:t>
                      </a:r>
                      <a:r>
                        <a:rPr lang="en-US" sz="1200" b="0" i="0" u="none" strike="noStrike" kern="1200" dirty="0">
                          <a:solidFill>
                            <a:schemeClr val="tx1"/>
                          </a:solidFill>
                          <a:effectLst/>
                          <a:latin typeface="Aptos Narrow" panose="020B0004020202020204" pitchFamily="34" charset="0"/>
                          <a:ea typeface="+mn-ea"/>
                          <a:cs typeface="+mn-cs"/>
                        </a:rPr>
                        <a:t> based on number of deals and </a:t>
                      </a:r>
                      <a:r>
                        <a:rPr lang="en-US" sz="1200" b="1" i="0" u="none" strike="noStrike" kern="1200" dirty="0">
                          <a:solidFill>
                            <a:schemeClr val="tx1"/>
                          </a:solidFill>
                          <a:effectLst/>
                          <a:latin typeface="Aptos Narrow" panose="020B0004020202020204" pitchFamily="34" charset="0"/>
                          <a:ea typeface="+mn-ea"/>
                          <a:cs typeface="+mn-cs"/>
                        </a:rPr>
                        <a:t>18%</a:t>
                      </a:r>
                      <a:r>
                        <a:rPr lang="en-US" sz="1200" b="0" i="0" u="none" strike="noStrike" kern="1200" dirty="0">
                          <a:solidFill>
                            <a:schemeClr val="tx1"/>
                          </a:solidFill>
                          <a:effectLst/>
                          <a:latin typeface="Aptos Narrow" panose="020B0004020202020204" pitchFamily="34" charset="0"/>
                          <a:ea typeface="+mn-ea"/>
                          <a:cs typeface="+mn-cs"/>
                        </a:rPr>
                        <a:t> based on capital invested.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70%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r h="1063516">
                <a:tc>
                  <a:txBody>
                    <a:bodyPr/>
                    <a:lstStyle/>
                    <a:p>
                      <a:pPr marL="60325"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Dispersion of Returns (Outperformance)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Aptos Narrow" panose="020B0004020202020204" pitchFamily="34" charset="0"/>
                          <a:ea typeface="+mn-ea"/>
                          <a:cs typeface="+mn-cs"/>
                        </a:rPr>
                        <a:t>Investments that have generated greater than a 2.0x MOIC is </a:t>
                      </a:r>
                      <a:r>
                        <a:rPr lang="en-US" sz="1200" b="1" i="0" u="none" strike="noStrike" kern="1200" dirty="0">
                          <a:solidFill>
                            <a:srgbClr val="000000"/>
                          </a:solidFill>
                          <a:effectLst/>
                          <a:latin typeface="Aptos Narrow" panose="020B0004020202020204" pitchFamily="34" charset="0"/>
                          <a:ea typeface="+mn-ea"/>
                          <a:cs typeface="+mn-cs"/>
                        </a:rPr>
                        <a:t>73% </a:t>
                      </a:r>
                      <a:r>
                        <a:rPr lang="en-US" sz="1200" b="0" i="0" u="none" strike="noStrike" kern="1200" dirty="0">
                          <a:solidFill>
                            <a:srgbClr val="000000"/>
                          </a:solidFill>
                          <a:effectLst/>
                          <a:latin typeface="Aptos Narrow" panose="020B0004020202020204" pitchFamily="34" charset="0"/>
                          <a:ea typeface="+mn-ea"/>
                          <a:cs typeface="+mn-cs"/>
                        </a:rPr>
                        <a:t>based on capital invested and </a:t>
                      </a:r>
                      <a:r>
                        <a:rPr lang="en-US" sz="1200" b="1" i="0" u="none" strike="noStrike" kern="1200" dirty="0">
                          <a:solidFill>
                            <a:srgbClr val="000000"/>
                          </a:solidFill>
                          <a:effectLst/>
                          <a:latin typeface="Aptos Narrow" panose="020B0004020202020204" pitchFamily="34" charset="0"/>
                          <a:ea typeface="+mn-ea"/>
                          <a:cs typeface="+mn-cs"/>
                        </a:rPr>
                        <a:t>73% </a:t>
                      </a:r>
                      <a:r>
                        <a:rPr lang="en-US" sz="1200" b="0" i="0" u="none" strike="noStrike" kern="1200" dirty="0">
                          <a:solidFill>
                            <a:srgbClr val="000000"/>
                          </a:solidFill>
                          <a:effectLst/>
                          <a:latin typeface="Aptos Narrow" panose="020B0004020202020204" pitchFamily="34" charset="0"/>
                          <a:ea typeface="+mn-ea"/>
                          <a:cs typeface="+mn-cs"/>
                        </a:rPr>
                        <a:t>based on number of investments. </a:t>
                      </a:r>
                      <a:r>
                        <a:rPr lang="en-US" sz="1200" b="1" i="0" u="none" strike="noStrike" kern="1200" dirty="0">
                          <a:solidFill>
                            <a:srgbClr val="000000"/>
                          </a:solidFill>
                          <a:effectLst/>
                          <a:latin typeface="Aptos Narrow" panose="020B0004020202020204" pitchFamily="34" charset="0"/>
                          <a:ea typeface="+mn-ea"/>
                          <a:cs typeface="+mn-cs"/>
                        </a:rPr>
                        <a:t>3.1x</a:t>
                      </a:r>
                      <a:r>
                        <a:rPr lang="en-US" sz="1200" b="0" i="0" u="none" strike="noStrike" kern="1200" dirty="0">
                          <a:solidFill>
                            <a:srgbClr val="000000"/>
                          </a:solidFill>
                          <a:effectLst/>
                          <a:latin typeface="Aptos Narrow" panose="020B0004020202020204" pitchFamily="34" charset="0"/>
                          <a:ea typeface="+mn-ea"/>
                          <a:cs typeface="+mn-cs"/>
                        </a:rPr>
                        <a:t> outperformance ratio based on number and </a:t>
                      </a:r>
                      <a:r>
                        <a:rPr lang="en-US" sz="1200" b="1" i="0" u="none" strike="noStrike" kern="1200" dirty="0">
                          <a:solidFill>
                            <a:srgbClr val="000000"/>
                          </a:solidFill>
                          <a:effectLst/>
                          <a:latin typeface="Aptos Narrow" panose="020B0004020202020204" pitchFamily="34" charset="0"/>
                          <a:ea typeface="+mn-ea"/>
                          <a:cs typeface="+mn-cs"/>
                        </a:rPr>
                        <a:t>2.9x</a:t>
                      </a:r>
                      <a:r>
                        <a:rPr lang="en-US" sz="1200" b="0" i="0" u="none" strike="noStrike" kern="1200" dirty="0">
                          <a:solidFill>
                            <a:srgbClr val="000000"/>
                          </a:solidFill>
                          <a:effectLst/>
                          <a:latin typeface="Aptos Narrow" panose="020B0004020202020204" pitchFamily="34" charset="0"/>
                          <a:ea typeface="+mn-ea"/>
                          <a:cs typeface="+mn-cs"/>
                        </a:rPr>
                        <a:t> outperformance ratio based on capital invested (outperformance ratio: (% above 2.0x / % held below 1.0x).</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85%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bl>
          </a:graphicData>
        </a:graphic>
      </p:graphicFrame>
      <p:sp>
        <p:nvSpPr>
          <p:cNvPr id="5" name="Rectangle 4">
            <a:extLst>
              <a:ext uri="{FF2B5EF4-FFF2-40B4-BE49-F238E27FC236}">
                <a16:creationId xmlns:a16="http://schemas.microsoft.com/office/drawing/2014/main" id="{708F69FA-FA24-B67E-F944-A93BE826E95C}"/>
              </a:ext>
            </a:extLst>
          </p:cNvPr>
          <p:cNvSpPr/>
          <p:nvPr/>
        </p:nvSpPr>
        <p:spPr>
          <a:xfrm>
            <a:off x="572107" y="5440680"/>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dirty="0">
                <a:solidFill>
                  <a:schemeClr val="tx1"/>
                </a:solidFill>
              </a:rPr>
              <a:t>Note (1): All figures as of June 2024. </a:t>
            </a:r>
          </a:p>
        </p:txBody>
      </p:sp>
    </p:spTree>
    <p:extLst>
      <p:ext uri="{BB962C8B-B14F-4D97-AF65-F5344CB8AC3E}">
        <p14:creationId xmlns:p14="http://schemas.microsoft.com/office/powerpoint/2010/main" val="421109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1FD64-E01D-3E62-F9F2-8A12CE079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ED610-97D6-1D05-ED56-0212ED7421E8}"/>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E8AFDF7C-9D50-317A-10FA-44D08BC40918}"/>
              </a:ext>
            </a:extLst>
          </p:cNvPr>
          <p:cNvGraphicFramePr>
            <a:graphicFrameLocks noGrp="1"/>
          </p:cNvGraphicFramePr>
          <p:nvPr>
            <p:extLst>
              <p:ext uri="{D42A27DB-BD31-4B8C-83A1-F6EECF244321}">
                <p14:modId xmlns:p14="http://schemas.microsoft.com/office/powerpoint/2010/main" val="4269306041"/>
              </p:ext>
            </p:extLst>
          </p:nvPr>
        </p:nvGraphicFramePr>
        <p:xfrm>
          <a:off x="572108" y="940438"/>
          <a:ext cx="7999784" cy="5297075"/>
        </p:xfrm>
        <a:graphic>
          <a:graphicData uri="http://schemas.openxmlformats.org/drawingml/2006/table">
            <a:tbl>
              <a:tblPr/>
              <a:tblGrid>
                <a:gridCol w="920142">
                  <a:extLst>
                    <a:ext uri="{9D8B030D-6E8A-4147-A177-3AD203B41FA5}">
                      <a16:colId xmlns:a16="http://schemas.microsoft.com/office/drawing/2014/main" val="1685393209"/>
                    </a:ext>
                  </a:extLst>
                </a:gridCol>
                <a:gridCol w="6381750">
                  <a:extLst>
                    <a:ext uri="{9D8B030D-6E8A-4147-A177-3AD203B41FA5}">
                      <a16:colId xmlns:a16="http://schemas.microsoft.com/office/drawing/2014/main" val="2790180255"/>
                    </a:ext>
                  </a:extLst>
                </a:gridCol>
                <a:gridCol w="697892">
                  <a:extLst>
                    <a:ext uri="{9D8B030D-6E8A-4147-A177-3AD203B41FA5}">
                      <a16:colId xmlns:a16="http://schemas.microsoft.com/office/drawing/2014/main" val="4092202684"/>
                    </a:ext>
                  </a:extLst>
                </a:gridCol>
              </a:tblGrid>
              <a:tr h="247902">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5049173">
                <a:tc>
                  <a:txBody>
                    <a:bodyPr/>
                    <a:lstStyle/>
                    <a:p>
                      <a:pPr marL="57150" indent="317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Opportunity Set</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73038" indent="0" algn="l" defTabSz="914400" rtl="0" eaLnBrk="1" fontAlgn="ctr" latinLnBrk="0" hangingPunct="1"/>
                      <a:r>
                        <a:rPr lang="en-US" sz="1200" b="1" i="0" u="sng" strike="noStrike" kern="1200" dirty="0">
                          <a:solidFill>
                            <a:schemeClr val="tx1">
                              <a:lumMod val="95000"/>
                              <a:lumOff val="5000"/>
                            </a:schemeClr>
                          </a:solidFill>
                          <a:effectLst/>
                          <a:latin typeface="Aptos Narrow" panose="020B0004020202020204" pitchFamily="34" charset="0"/>
                          <a:ea typeface="+mn-ea"/>
                          <a:cs typeface="+mn-cs"/>
                        </a:rPr>
                        <a:t>Question: What do they see as their opportunity set? Do we agree?</a:t>
                      </a: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Fund XII will focus on providing growth capital to management teams focused on building</a:t>
                      </a: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upstream businesses in known producing regions in North America that will be attractive</a:t>
                      </a: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acquisition or merger candidates for larger upstream companies. They believe this is attractive because of three reasons: </a:t>
                      </a:r>
                      <a:endParaRPr lang="en-US" sz="1200" b="1" i="0" u="none" strike="noStrike" kern="1200" dirty="0">
                        <a:solidFill>
                          <a:schemeClr val="tx1">
                            <a:lumMod val="95000"/>
                            <a:lumOff val="5000"/>
                          </a:schemeClr>
                        </a:solidFill>
                        <a:effectLst/>
                        <a:latin typeface="Aptos Narrow" panose="020B0004020202020204" pitchFamily="34" charset="0"/>
                        <a:ea typeface="+mn-ea"/>
                        <a:cs typeface="+mn-cs"/>
                      </a:endParaRPr>
                    </a:p>
                    <a:p>
                      <a:pPr marL="401638" indent="-228600" algn="l" defTabSz="914400" rtl="0" eaLnBrk="1" fontAlgn="ctr" latinLnBrk="0" hangingPunct="1">
                        <a:buFont typeface="+mj-lt"/>
                        <a:buAutoNum type="arabicPeriod"/>
                      </a:pPr>
                      <a:r>
                        <a:rPr lang="en-US" sz="1200" b="1" i="0" u="none" strike="noStrike" kern="1200" dirty="0">
                          <a:solidFill>
                            <a:schemeClr val="tx1">
                              <a:lumMod val="95000"/>
                              <a:lumOff val="5000"/>
                            </a:schemeClr>
                          </a:solidFill>
                          <a:effectLst/>
                          <a:latin typeface="Aptos Narrow" panose="020B0004020202020204" pitchFamily="34" charset="0"/>
                          <a:ea typeface="+mn-ea"/>
                          <a:cs typeface="+mn-cs"/>
                        </a:rPr>
                        <a:t>Strong Macro Fundamentals:  </a:t>
                      </a:r>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Oil and gas continue to be the backbone of the global economy, and significant, recurring upstream investment is required to meet projected demand and offset natural production declines of 5-7% annually. However, upstream is highly underinvested. Global capital investment in the upstream sector has been significantly reduced in recent years. The International Energy Agency (IEA) estimates that approximately $650 billion in annual investment is needed through 2030 to meet demand, a 50% increase over recent levels.</a:t>
                      </a:r>
                    </a:p>
                    <a:p>
                      <a:pPr marL="401638" indent="-228600" algn="l" defTabSz="914400" rtl="0" eaLnBrk="1" fontAlgn="ctr" latinLnBrk="0" hangingPunct="1">
                        <a:buFont typeface="+mj-lt"/>
                        <a:buAutoNum type="arabicPeriod"/>
                      </a:pPr>
                      <a:r>
                        <a:rPr lang="en-US" sz="1200" b="1" i="0" u="none" strike="noStrike" kern="1200" dirty="0">
                          <a:solidFill>
                            <a:schemeClr val="tx1">
                              <a:lumMod val="95000"/>
                              <a:lumOff val="5000"/>
                            </a:schemeClr>
                          </a:solidFill>
                          <a:effectLst/>
                          <a:latin typeface="Aptos Narrow" panose="020B0004020202020204" pitchFamily="34" charset="0"/>
                          <a:ea typeface="+mn-ea"/>
                          <a:cs typeface="+mn-cs"/>
                        </a:rPr>
                        <a:t>Competitive Landscape: </a:t>
                      </a:r>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Access to capital for the E&amp;P industry is very limited. Public equity markets have been largely closed to the sector since 2017, and private equity fundraising focused on upstream oil and gas has slowed considerably. This lack of capital has created a reduced buyer universe and less competition, particularly for larger assets with a total deal size over $500 million. EnCap's reputation, access to capital, and ability to execute quickly are differentiating factors in this environment. </a:t>
                      </a:r>
                      <a:endParaRPr lang="en-US" sz="1200" b="1" i="0" u="none" strike="noStrike" kern="1200" dirty="0">
                        <a:solidFill>
                          <a:schemeClr val="tx1">
                            <a:lumMod val="95000"/>
                            <a:lumOff val="5000"/>
                          </a:schemeClr>
                        </a:solidFill>
                        <a:effectLst/>
                        <a:latin typeface="Aptos Narrow" panose="020B0004020202020204" pitchFamily="34" charset="0"/>
                        <a:ea typeface="+mn-ea"/>
                        <a:cs typeface="+mn-cs"/>
                      </a:endParaRPr>
                    </a:p>
                    <a:p>
                      <a:pPr marL="401638" indent="-228600" algn="l" defTabSz="914400" rtl="0" eaLnBrk="1" fontAlgn="ctr" latinLnBrk="0" hangingPunct="1">
                        <a:buFont typeface="+mj-lt"/>
                        <a:buAutoNum type="arabicPeriod"/>
                      </a:pPr>
                      <a:r>
                        <a:rPr lang="en-US" sz="1200" b="1" i="0" u="none" strike="noStrike" kern="1200" dirty="0">
                          <a:solidFill>
                            <a:schemeClr val="tx1">
                              <a:lumMod val="95000"/>
                              <a:lumOff val="5000"/>
                            </a:schemeClr>
                          </a:solidFill>
                          <a:effectLst/>
                          <a:latin typeface="Aptos Narrow" panose="020B0004020202020204" pitchFamily="34" charset="0"/>
                          <a:ea typeface="+mn-ea"/>
                          <a:cs typeface="+mn-cs"/>
                        </a:rPr>
                        <a:t>Attractive Valuations</a:t>
                      </a:r>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 Energy and upstream company valuations remain at historically low levels, creating a compelling entry point for investment. The market dynamics allow for the acquisition of properties at attractive multiples, often at or near their "hard value" (2.0x to 3.0x EBITDA). This means the transaction value is supported by existing production, and significant development upside can be acquired for little to no cost.</a:t>
                      </a: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1" i="0" u="none" strike="noStrike" kern="1200" dirty="0">
                          <a:solidFill>
                            <a:srgbClr val="0000FF"/>
                          </a:solidFill>
                          <a:effectLst/>
                          <a:latin typeface="Aptos Narrow" panose="020B0004020202020204" pitchFamily="34" charset="0"/>
                          <a:ea typeface="+mn-ea"/>
                          <a:cs typeface="+mn-cs"/>
                        </a:rPr>
                        <a:t>ES/ ZD View: We agree, we think that upstream O&amp;G remains an attractive sector for investment. Energy transition won’t happen for awhile, and O&amp;G will remain a dominant force in energy production. Natural gas will especially still be needed to provide consistent energy to data centers and future infrastructure. </a:t>
                      </a:r>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85%</a:t>
                      </a:r>
                    </a:p>
                    <a:p>
                      <a:pPr marL="173038" indent="-53975" algn="l" defTabSz="914400" rtl="0" eaLnBrk="1" fontAlgn="ctr" latinLnBrk="0" hangingPunct="1"/>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bl>
          </a:graphicData>
        </a:graphic>
      </p:graphicFrame>
    </p:spTree>
    <p:extLst>
      <p:ext uri="{BB962C8B-B14F-4D97-AF65-F5344CB8AC3E}">
        <p14:creationId xmlns:p14="http://schemas.microsoft.com/office/powerpoint/2010/main" val="1953579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0DCF-12BC-DB5A-D2EB-CBEC1A10A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3DF2E-7513-CF69-E495-3B43CA9A286B}"/>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E300A15F-7BEC-3CA1-AF45-E4DA3FD9EB0A}"/>
              </a:ext>
            </a:extLst>
          </p:cNvPr>
          <p:cNvGraphicFramePr>
            <a:graphicFrameLocks noGrp="1"/>
          </p:cNvGraphicFramePr>
          <p:nvPr>
            <p:extLst>
              <p:ext uri="{D42A27DB-BD31-4B8C-83A1-F6EECF244321}">
                <p14:modId xmlns:p14="http://schemas.microsoft.com/office/powerpoint/2010/main" val="1643056370"/>
              </p:ext>
            </p:extLst>
          </p:nvPr>
        </p:nvGraphicFramePr>
        <p:xfrm>
          <a:off x="572108" y="940439"/>
          <a:ext cx="7999784" cy="5132737"/>
        </p:xfrm>
        <a:graphic>
          <a:graphicData uri="http://schemas.openxmlformats.org/drawingml/2006/table">
            <a:tbl>
              <a:tblPr/>
              <a:tblGrid>
                <a:gridCol w="920142">
                  <a:extLst>
                    <a:ext uri="{9D8B030D-6E8A-4147-A177-3AD203B41FA5}">
                      <a16:colId xmlns:a16="http://schemas.microsoft.com/office/drawing/2014/main" val="1685393209"/>
                    </a:ext>
                  </a:extLst>
                </a:gridCol>
                <a:gridCol w="6381750">
                  <a:extLst>
                    <a:ext uri="{9D8B030D-6E8A-4147-A177-3AD203B41FA5}">
                      <a16:colId xmlns:a16="http://schemas.microsoft.com/office/drawing/2014/main" val="2790180255"/>
                    </a:ext>
                  </a:extLst>
                </a:gridCol>
                <a:gridCol w="697892">
                  <a:extLst>
                    <a:ext uri="{9D8B030D-6E8A-4147-A177-3AD203B41FA5}">
                      <a16:colId xmlns:a16="http://schemas.microsoft.com/office/drawing/2014/main" val="4092202684"/>
                    </a:ext>
                  </a:extLst>
                </a:gridCol>
              </a:tblGrid>
              <a:tr h="231151">
                <a:tc gridSpan="2">
                  <a:txBody>
                    <a:bodyPr/>
                    <a:lstStyle/>
                    <a:p>
                      <a:pPr marL="0" indent="60325" algn="ctr" defTabSz="914400" rtl="0" eaLnBrk="1" fontAlgn="ctr" latinLnBrk="0" hangingPunct="1"/>
                      <a:r>
                        <a:rPr lang="en-US" sz="1200" b="1" i="0" u="none" strike="noStrike" kern="1200" dirty="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4901586">
                <a:tc>
                  <a:txBody>
                    <a:bodyPr/>
                    <a:lstStyle/>
                    <a:p>
                      <a:pPr marL="57150" indent="317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Edge/Team</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73038" indent="0" algn="l" defTabSz="914400" rtl="0" eaLnBrk="1" fontAlgn="ctr" latinLnBrk="0" hangingPunct="1"/>
                      <a:r>
                        <a:rPr lang="en-US" sz="1200" b="1" i="0" u="sng" strike="noStrike" kern="1200" dirty="0">
                          <a:solidFill>
                            <a:schemeClr val="tx1">
                              <a:lumMod val="95000"/>
                              <a:lumOff val="5000"/>
                            </a:schemeClr>
                          </a:solidFill>
                          <a:effectLst/>
                          <a:latin typeface="Aptos Narrow" panose="020B0004020202020204" pitchFamily="34" charset="0"/>
                          <a:ea typeface="+mn-ea"/>
                          <a:cs typeface="+mn-cs"/>
                        </a:rPr>
                        <a:t>Question: What do they see as their edge? Do we agree?</a:t>
                      </a: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EnCap’s primary differentiators are its 30+ years of a strong track record of consistent performance and its deeply experienced team. The firm has managed approximately $39B across 22 institutional funds, with its 11 upstream funds generating a net IRR of 14.9% and 1.5x net ROI across 205 investments, consistently outperforming the S&amp;P Energy Index. The leadership team averages 33 years of industry experience and 25 years at EnCap, with the founders having worked together for over 37 years. The team has strong and demonstrated credibility along with significant industry relationships. </a:t>
                      </a: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The firm also has strong operational advantages. EnCap holds board positions in almost all portfolio companies. EnCap also has conservative leverage ratios (currently &lt;1.0x net debt to LTM EBITDA in unrealized upstream portfolio) and has a strong in-house technical team with reservoir engineers and geologists using proprietary software and data for deal evaluation and monitoring assets. EnCap’s technical capability along with the team’s significant industry relationships generates significant deal flow, with approximately half of upstream fund capital allocated to repeat managers. </a:t>
                      </a: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EnCap’s proven adaptability through market cycles positions itself in an advantageous position to continue winning the market. Since 2020, the firm deployed $3.8B in equity while generating $7.4B in distributions, demonstrating their ability to create value even during economic downturns and volatile periods. </a:t>
                      </a:r>
                      <a:endParaRPr lang="en-US" sz="1200" b="1" i="0" u="sng"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1" i="0" u="none" strike="noStrike" kern="1200" dirty="0">
                          <a:solidFill>
                            <a:srgbClr val="0000FF"/>
                          </a:solidFill>
                          <a:effectLst/>
                          <a:latin typeface="Aptos Narrow" panose="020B0004020202020204" pitchFamily="34" charset="0"/>
                          <a:ea typeface="+mn-ea"/>
                          <a:cs typeface="+mn-cs"/>
                        </a:rPr>
                        <a:t>ES/ZD View: EnCap has a strong edge, they’re unlikely to face real competition from most firms, as they’re an established energy player with a long track record. They have a real ability to consistently generate alpha compared to public energy companies, and the main thing that sets them apart is that they know where to find energy opportunities, regardless of the market conditions. </a:t>
                      </a: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80%</a:t>
                      </a:r>
                    </a:p>
                    <a:p>
                      <a:pPr marL="173038" indent="-53975" algn="l" defTabSz="914400" rtl="0" eaLnBrk="1" fontAlgn="ctr" latinLnBrk="0" hangingPunct="1"/>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bl>
          </a:graphicData>
        </a:graphic>
      </p:graphicFrame>
    </p:spTree>
    <p:extLst>
      <p:ext uri="{BB962C8B-B14F-4D97-AF65-F5344CB8AC3E}">
        <p14:creationId xmlns:p14="http://schemas.microsoft.com/office/powerpoint/2010/main" val="9389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1F15-408E-6AF0-B5DA-71F381FA6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973A2-E444-FEE4-6937-6D4FA1E726C3}"/>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4FDD6680-A11F-64D2-6A73-0B68E0F7E8B6}"/>
              </a:ext>
            </a:extLst>
          </p:cNvPr>
          <p:cNvGraphicFramePr>
            <a:graphicFrameLocks noGrp="1"/>
          </p:cNvGraphicFramePr>
          <p:nvPr>
            <p:extLst>
              <p:ext uri="{D42A27DB-BD31-4B8C-83A1-F6EECF244321}">
                <p14:modId xmlns:p14="http://schemas.microsoft.com/office/powerpoint/2010/main" val="2754880311"/>
              </p:ext>
            </p:extLst>
          </p:nvPr>
        </p:nvGraphicFramePr>
        <p:xfrm>
          <a:off x="572108" y="885575"/>
          <a:ext cx="7999784" cy="3915025"/>
        </p:xfrm>
        <a:graphic>
          <a:graphicData uri="http://schemas.openxmlformats.org/drawingml/2006/table">
            <a:tbl>
              <a:tblPr/>
              <a:tblGrid>
                <a:gridCol w="1226212">
                  <a:extLst>
                    <a:ext uri="{9D8B030D-6E8A-4147-A177-3AD203B41FA5}">
                      <a16:colId xmlns:a16="http://schemas.microsoft.com/office/drawing/2014/main" val="1685393209"/>
                    </a:ext>
                  </a:extLst>
                </a:gridCol>
                <a:gridCol w="5806440">
                  <a:extLst>
                    <a:ext uri="{9D8B030D-6E8A-4147-A177-3AD203B41FA5}">
                      <a16:colId xmlns:a16="http://schemas.microsoft.com/office/drawing/2014/main" val="2790180255"/>
                    </a:ext>
                  </a:extLst>
                </a:gridCol>
                <a:gridCol w="967132">
                  <a:extLst>
                    <a:ext uri="{9D8B030D-6E8A-4147-A177-3AD203B41FA5}">
                      <a16:colId xmlns:a16="http://schemas.microsoft.com/office/drawing/2014/main" val="4092202684"/>
                    </a:ext>
                  </a:extLst>
                </a:gridCol>
              </a:tblGrid>
              <a:tr h="229075">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3685950">
                <a:tc>
                  <a:txBody>
                    <a:bodyPr/>
                    <a:lstStyle/>
                    <a:p>
                      <a:pPr marL="60325" indent="0" algn="l" defTabSz="914400" rtl="0" eaLnBrk="1" fontAlgn="ctr" latinLnBrk="0" hangingPunct="1"/>
                      <a:r>
                        <a:rPr lang="en-US" sz="1200" b="1" i="0" u="none" strike="noStrike" kern="1200">
                          <a:solidFill>
                            <a:schemeClr val="tx1"/>
                          </a:solidFill>
                          <a:effectLst/>
                          <a:latin typeface="Aptos Narrow" panose="020B0004020202020204" pitchFamily="34" charset="0"/>
                          <a:ea typeface="+mn-ea"/>
                          <a:cs typeface="+mn-cs"/>
                        </a:rPr>
                        <a:t>Investment Process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lumMod val="95000"/>
                              <a:lumOff val="5000"/>
                            </a:schemeClr>
                          </a:solidFill>
                          <a:effectLst/>
                          <a:latin typeface="Aptos Narrow" panose="020B0004020202020204" pitchFamily="34" charset="0"/>
                          <a:ea typeface="+mn-ea"/>
                          <a:cs typeface="+mn-cs"/>
                        </a:rPr>
                        <a:t>Questions: Describe how deals are sourced. Overview of the process.</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EnCap seeks to partner with management teams that have a proven track record of value creation, are industry leaders, and have compelling business plans. EnCap’s partnerships are sourced by the Investment Professionals, who have spent their entire careers developing extensive contacts and relationships within the upstream industry and the broader energy and financial community. </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Additionally, approximately half of the capital commitments in EnCap’s last four upstream funds were allocated to repeat management teams (teams that EnCap has previously partnered/invested in). EnCap anticipates this trend will continue in Fund XII. </a:t>
                      </a:r>
                      <a:endParaRPr lang="en-US" sz="1200" b="0" i="0" u="none" strike="noStrike" kern="1200" dirty="0">
                        <a:solidFill>
                          <a:srgbClr val="FF0000"/>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ES/ZD View: EnCap has a clear set of criteria they are looking for in management teams. They are focused not on just the assets themselves, but the surrounding team to execute. EnCap repeatedly partnering with past management teams demonstrates both their ability to find strong teams and to really be a value-add partner, as both the management team and EnCap actively choose to work with one another. They are a leader in Energy PE and have a proven ability to source and execute deals.</a:t>
                      </a:r>
                      <a:endParaRPr lang="en-US" sz="1200" b="1" i="0" u="sng" strike="noStrike" kern="1200" dirty="0">
                        <a:solidFill>
                          <a:schemeClr val="tx1"/>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4763"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80%</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bl>
          </a:graphicData>
        </a:graphic>
      </p:graphicFrame>
    </p:spTree>
    <p:extLst>
      <p:ext uri="{BB962C8B-B14F-4D97-AF65-F5344CB8AC3E}">
        <p14:creationId xmlns:p14="http://schemas.microsoft.com/office/powerpoint/2010/main" val="286676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759AF-13DF-84DD-DF41-C0B7D7DBA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C1548-122D-7E57-5330-E9E46EEF450D}"/>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71E5F175-9366-ED25-06C4-997BB5C02C58}"/>
              </a:ext>
            </a:extLst>
          </p:cNvPr>
          <p:cNvGraphicFramePr>
            <a:graphicFrameLocks noGrp="1"/>
          </p:cNvGraphicFramePr>
          <p:nvPr>
            <p:extLst>
              <p:ext uri="{D42A27DB-BD31-4B8C-83A1-F6EECF244321}">
                <p14:modId xmlns:p14="http://schemas.microsoft.com/office/powerpoint/2010/main" val="2261468072"/>
              </p:ext>
            </p:extLst>
          </p:nvPr>
        </p:nvGraphicFramePr>
        <p:xfrm>
          <a:off x="572108" y="885573"/>
          <a:ext cx="7999784" cy="5073163"/>
        </p:xfrm>
        <a:graphic>
          <a:graphicData uri="http://schemas.openxmlformats.org/drawingml/2006/table">
            <a:tbl>
              <a:tblPr/>
              <a:tblGrid>
                <a:gridCol w="1402742">
                  <a:extLst>
                    <a:ext uri="{9D8B030D-6E8A-4147-A177-3AD203B41FA5}">
                      <a16:colId xmlns:a16="http://schemas.microsoft.com/office/drawing/2014/main" val="1685393209"/>
                    </a:ext>
                  </a:extLst>
                </a:gridCol>
                <a:gridCol w="5884636">
                  <a:extLst>
                    <a:ext uri="{9D8B030D-6E8A-4147-A177-3AD203B41FA5}">
                      <a16:colId xmlns:a16="http://schemas.microsoft.com/office/drawing/2014/main" val="2790180255"/>
                    </a:ext>
                  </a:extLst>
                </a:gridCol>
                <a:gridCol w="712406">
                  <a:extLst>
                    <a:ext uri="{9D8B030D-6E8A-4147-A177-3AD203B41FA5}">
                      <a16:colId xmlns:a16="http://schemas.microsoft.com/office/drawing/2014/main" val="4092202684"/>
                    </a:ext>
                  </a:extLst>
                </a:gridCol>
              </a:tblGrid>
              <a:tr h="311856">
                <a:tc gridSpan="2">
                  <a:txBody>
                    <a:bodyPr/>
                    <a:lstStyle/>
                    <a:p>
                      <a:pPr marL="0" indent="60325" algn="ctr" defTabSz="914400" rtl="0" eaLnBrk="1" fontAlgn="ctr" latinLnBrk="0" hangingPunct="1"/>
                      <a:r>
                        <a:rPr lang="en-US" sz="1200" b="1" i="0" u="none" strike="noStrike" kern="1200" dirty="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4064469">
                <a:tc>
                  <a:txBody>
                    <a:bodyPr/>
                    <a:lstStyle/>
                    <a:p>
                      <a:pPr marL="60325"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Investment Process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Questions: How do you underwrite the downside? </a:t>
                      </a: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EnCap's underwriting process is designed to protect capital in declining price environments. Key elements include:</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Aptos Narrow" panose="020B0004020202020204" pitchFamily="34" charset="0"/>
                          <a:ea typeface="+mn-ea"/>
                          <a:cs typeface="+mn-cs"/>
                        </a:rPr>
                        <a:t>Conservative Forecasting: </a:t>
                      </a:r>
                      <a:r>
                        <a:rPr lang="en-US" sz="1200" b="0" i="0" u="none" strike="noStrike" kern="1200" dirty="0">
                          <a:solidFill>
                            <a:schemeClr val="tx1"/>
                          </a:solidFill>
                          <a:effectLst/>
                          <a:latin typeface="Aptos Narrow" panose="020B0004020202020204" pitchFamily="34" charset="0"/>
                          <a:ea typeface="+mn-ea"/>
                          <a:cs typeface="+mn-cs"/>
                        </a:rPr>
                        <a:t>Investment structures are based on conservative forecasts of future oil and gas prices, which are generally at or below current NYMEX prices. The firm's economic modeling includes a suite of sensitivities based on a wide range of prices to stress-test the investment case.</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Aptos Narrow" panose="020B0004020202020204" pitchFamily="34" charset="0"/>
                          <a:ea typeface="+mn-ea"/>
                          <a:cs typeface="+mn-cs"/>
                        </a:rPr>
                        <a:t>"Hard Value" Acquisitions: </a:t>
                      </a:r>
                      <a:r>
                        <a:rPr lang="en-US" sz="1200" b="0" i="0" u="none" strike="noStrike" kern="1200" dirty="0">
                          <a:solidFill>
                            <a:schemeClr val="tx1"/>
                          </a:solidFill>
                          <a:effectLst/>
                          <a:latin typeface="Aptos Narrow" panose="020B0004020202020204" pitchFamily="34" charset="0"/>
                          <a:ea typeface="+mn-ea"/>
                          <a:cs typeface="+mn-cs"/>
                        </a:rPr>
                        <a:t>The firm focuses on acquiring assets at or near their "hard value," where the transaction price is largely justified by the present value of existing Proved Developed Producing (PDP) reserves. This strategy aims to capture future development upside for little to no additional cost, creating a margin of safety</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Questions: What will they have beta to? </a:t>
                      </a: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The fund's performance is most directly correlated to the public energy sector (S&amp;P 500 Energy Index), particularly upstream exploration and production (E&amp;P) companies. They will also have beta to O&amp;G prices and the O&amp;G industry in general.</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dirty="0">
                        <a:solidFill>
                          <a:srgbClr val="0000FF"/>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Questions: What are external return drivers and risk factors we can track (entry multiples, revenue growth, margin growth, market wide vs. industry specific drivers, etc.)?</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dirty="0">
                        <a:solidFill>
                          <a:srgbClr val="0000FF"/>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External drivers we can track are strategic M&amp;A activity and multiples in the O&amp;G sector, O&amp;G commodity prices, global energy demand, capital investment into the energy sector, and public O&amp;G company valuations and earnings. </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dirty="0">
                        <a:solidFill>
                          <a:srgbClr val="0000FF"/>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9577592"/>
                  </a:ext>
                </a:extLst>
              </a:tr>
            </a:tbl>
          </a:graphicData>
        </a:graphic>
      </p:graphicFrame>
    </p:spTree>
    <p:extLst>
      <p:ext uri="{BB962C8B-B14F-4D97-AF65-F5344CB8AC3E}">
        <p14:creationId xmlns:p14="http://schemas.microsoft.com/office/powerpoint/2010/main" val="51739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4F73F-0695-EA0D-BA20-CEF770576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FBD61-838F-4E33-2543-B5A412DE7878}"/>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DBB27C5C-FD15-7F9B-583D-DEB924A13727}"/>
              </a:ext>
            </a:extLst>
          </p:cNvPr>
          <p:cNvGraphicFramePr>
            <a:graphicFrameLocks noGrp="1"/>
          </p:cNvGraphicFramePr>
          <p:nvPr>
            <p:extLst>
              <p:ext uri="{D42A27DB-BD31-4B8C-83A1-F6EECF244321}">
                <p14:modId xmlns:p14="http://schemas.microsoft.com/office/powerpoint/2010/main" val="6109488"/>
              </p:ext>
            </p:extLst>
          </p:nvPr>
        </p:nvGraphicFramePr>
        <p:xfrm>
          <a:off x="572108" y="885574"/>
          <a:ext cx="7999784" cy="2330065"/>
        </p:xfrm>
        <a:graphic>
          <a:graphicData uri="http://schemas.openxmlformats.org/drawingml/2006/table">
            <a:tbl>
              <a:tblPr/>
              <a:tblGrid>
                <a:gridCol w="1599592">
                  <a:extLst>
                    <a:ext uri="{9D8B030D-6E8A-4147-A177-3AD203B41FA5}">
                      <a16:colId xmlns:a16="http://schemas.microsoft.com/office/drawing/2014/main" val="1685393209"/>
                    </a:ext>
                  </a:extLst>
                </a:gridCol>
                <a:gridCol w="5245100">
                  <a:extLst>
                    <a:ext uri="{9D8B030D-6E8A-4147-A177-3AD203B41FA5}">
                      <a16:colId xmlns:a16="http://schemas.microsoft.com/office/drawing/2014/main" val="2790180255"/>
                    </a:ext>
                  </a:extLst>
                </a:gridCol>
                <a:gridCol w="1155092">
                  <a:extLst>
                    <a:ext uri="{9D8B030D-6E8A-4147-A177-3AD203B41FA5}">
                      <a16:colId xmlns:a16="http://schemas.microsoft.com/office/drawing/2014/main" val="4092202684"/>
                    </a:ext>
                  </a:extLst>
                </a:gridCol>
              </a:tblGrid>
              <a:tr h="265918">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2064147">
                <a:tc>
                  <a:txBody>
                    <a:bodyPr/>
                    <a:lstStyle/>
                    <a:p>
                      <a:pPr marL="60325"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Co-Investment Opportunity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 What is their policy on co-invest? What have the historical co-investment opportunities been?</a:t>
                      </a:r>
                    </a:p>
                    <a:p>
                      <a:pPr marL="117475" marR="0" lvl="0" indent="1588"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EnCap offers co-invest on a no fee, no carry basis.</a:t>
                      </a:r>
                    </a:p>
                    <a:p>
                      <a:pPr marL="117475" marR="0" lvl="0" indent="1588"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FF0000"/>
                          </a:solidFill>
                          <a:effectLst/>
                          <a:latin typeface="Aptos Narrow" panose="020B0004020202020204" pitchFamily="34" charset="0"/>
                          <a:ea typeface="+mn-ea"/>
                          <a:cs typeface="+mn-cs"/>
                        </a:rPr>
                        <a:t>ES View: Need more information historical co-invests and co-invests being offered.</a:t>
                      </a: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75%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bl>
          </a:graphicData>
        </a:graphic>
      </p:graphicFrame>
    </p:spTree>
    <p:extLst>
      <p:ext uri="{BB962C8B-B14F-4D97-AF65-F5344CB8AC3E}">
        <p14:creationId xmlns:p14="http://schemas.microsoft.com/office/powerpoint/2010/main" val="1029196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56CF-B0B8-A95E-A53C-5235F7C76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A49F0-DE44-2554-26E9-63F2B7CF22EF}"/>
              </a:ext>
            </a:extLst>
          </p:cNvPr>
          <p:cNvSpPr>
            <a:spLocks noGrp="1"/>
          </p:cNvSpPr>
          <p:nvPr>
            <p:ph type="title"/>
          </p:nvPr>
        </p:nvSpPr>
        <p:spPr/>
        <p:txBody>
          <a:bodyPr>
            <a:normAutofit fontScale="90000"/>
          </a:bodyPr>
          <a:lstStyle/>
          <a:p>
            <a:r>
              <a:rPr lang="en-US"/>
              <a:t>Timeline</a:t>
            </a:r>
          </a:p>
        </p:txBody>
      </p:sp>
      <p:sp>
        <p:nvSpPr>
          <p:cNvPr id="3" name="Rectangle 2">
            <a:extLst>
              <a:ext uri="{FF2B5EF4-FFF2-40B4-BE49-F238E27FC236}">
                <a16:creationId xmlns:a16="http://schemas.microsoft.com/office/drawing/2014/main" id="{713B72A0-4B2B-FAF5-D004-76A851B2156C}"/>
              </a:ext>
            </a:extLst>
          </p:cNvPr>
          <p:cNvSpPr/>
          <p:nvPr/>
        </p:nvSpPr>
        <p:spPr>
          <a:xfrm>
            <a:off x="1804677" y="1527368"/>
            <a:ext cx="3780336" cy="19599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1: Pre-Meeting Memo</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2: Prelim DD – Investment</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3: Investment Committee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endParaRP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Legal Commentary Due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Subscription Documents Due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Fund Final Close</a:t>
            </a:r>
            <a:endPar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FD61822-F9D6-BFE9-3629-95BD003A3BE1}"/>
              </a:ext>
            </a:extLst>
          </p:cNvPr>
          <p:cNvSpPr/>
          <p:nvPr/>
        </p:nvSpPr>
        <p:spPr>
          <a:xfrm>
            <a:off x="5333664" y="1167272"/>
            <a:ext cx="2320401" cy="275543"/>
          </a:xfrm>
          <a:prstGeom prst="rect">
            <a:avLst/>
          </a:prstGeom>
          <a:solidFill>
            <a:srgbClr val="3950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Timing</a:t>
            </a:r>
          </a:p>
        </p:txBody>
      </p:sp>
      <p:sp>
        <p:nvSpPr>
          <p:cNvPr id="8" name="Rectangle 7">
            <a:extLst>
              <a:ext uri="{FF2B5EF4-FFF2-40B4-BE49-F238E27FC236}">
                <a16:creationId xmlns:a16="http://schemas.microsoft.com/office/drawing/2014/main" id="{952736BB-D120-0C9A-02B1-D7E70F66FA6D}"/>
              </a:ext>
            </a:extLst>
          </p:cNvPr>
          <p:cNvSpPr/>
          <p:nvPr/>
        </p:nvSpPr>
        <p:spPr>
          <a:xfrm>
            <a:off x="5285255" y="1527368"/>
            <a:ext cx="2417220" cy="21929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endParaRP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dirty="0">
                <a:solidFill>
                  <a:prstClr val="black">
                    <a:lumMod val="95000"/>
                    <a:lumOff val="5000"/>
                  </a:prstClr>
                </a:solidFill>
                <a:latin typeface="Calibri" panose="020F0502020204030204"/>
              </a:rPr>
              <a:t>n/a</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n/a</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dirty="0">
                <a:solidFill>
                  <a:prstClr val="black">
                    <a:lumMod val="95000"/>
                    <a:lumOff val="5000"/>
                  </a:prstClr>
                </a:solidFill>
                <a:latin typeface="Calibri" panose="020F0502020204030204"/>
              </a:rPr>
              <a:t>n/a</a:t>
            </a:r>
          </a:p>
        </p:txBody>
      </p:sp>
    </p:spTree>
    <p:extLst>
      <p:ext uri="{BB962C8B-B14F-4D97-AF65-F5344CB8AC3E}">
        <p14:creationId xmlns:p14="http://schemas.microsoft.com/office/powerpoint/2010/main" val="524166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E9A7A-9BD8-9AFE-8D9A-9ECF6B81CE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195B22-4D0D-07DA-DF37-E6D14AB72D09}"/>
              </a:ext>
            </a:extLst>
          </p:cNvPr>
          <p:cNvSpPr>
            <a:spLocks noGrp="1"/>
          </p:cNvSpPr>
          <p:nvPr>
            <p:ph type="title"/>
          </p:nvPr>
        </p:nvSpPr>
        <p:spPr>
          <a:xfrm>
            <a:off x="628650" y="795339"/>
            <a:ext cx="7886700" cy="2852737"/>
          </a:xfrm>
        </p:spPr>
        <p:txBody>
          <a:bodyPr/>
          <a:lstStyle/>
          <a:p>
            <a:r>
              <a:rPr lang="en-US"/>
              <a:t>Appendix</a:t>
            </a:r>
          </a:p>
        </p:txBody>
      </p:sp>
    </p:spTree>
    <p:extLst>
      <p:ext uri="{BB962C8B-B14F-4D97-AF65-F5344CB8AC3E}">
        <p14:creationId xmlns:p14="http://schemas.microsoft.com/office/powerpoint/2010/main" val="1977201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D5FFC-5321-7392-EBD5-0C34FF26B0F7}"/>
              </a:ext>
            </a:extLst>
          </p:cNvPr>
          <p:cNvSpPr>
            <a:spLocks noGrp="1"/>
          </p:cNvSpPr>
          <p:nvPr>
            <p:ph type="title"/>
          </p:nvPr>
        </p:nvSpPr>
        <p:spPr/>
        <p:txBody>
          <a:bodyPr>
            <a:normAutofit fontScale="90000"/>
          </a:bodyPr>
          <a:lstStyle/>
          <a:p>
            <a:r>
              <a:rPr lang="en-US" dirty="0"/>
              <a:t>Upstream Track Record</a:t>
            </a:r>
          </a:p>
        </p:txBody>
      </p:sp>
      <p:pic>
        <p:nvPicPr>
          <p:cNvPr id="5" name="Picture 4">
            <a:extLst>
              <a:ext uri="{FF2B5EF4-FFF2-40B4-BE49-F238E27FC236}">
                <a16:creationId xmlns:a16="http://schemas.microsoft.com/office/drawing/2014/main" id="{B7E95F3B-8A11-0951-A95E-091F955BDA72}"/>
              </a:ext>
            </a:extLst>
          </p:cNvPr>
          <p:cNvPicPr>
            <a:picLocks noChangeAspect="1"/>
          </p:cNvPicPr>
          <p:nvPr/>
        </p:nvPicPr>
        <p:blipFill>
          <a:blip r:embed="rId2"/>
          <a:stretch>
            <a:fillRect/>
          </a:stretch>
        </p:blipFill>
        <p:spPr>
          <a:xfrm>
            <a:off x="628650" y="854736"/>
            <a:ext cx="7991475" cy="2526950"/>
          </a:xfrm>
          <a:prstGeom prst="rect">
            <a:avLst/>
          </a:prstGeom>
        </p:spPr>
      </p:pic>
      <p:sp>
        <p:nvSpPr>
          <p:cNvPr id="3" name="Rectangle 2">
            <a:extLst>
              <a:ext uri="{FF2B5EF4-FFF2-40B4-BE49-F238E27FC236}">
                <a16:creationId xmlns:a16="http://schemas.microsoft.com/office/drawing/2014/main" id="{3583F3D9-AB65-4F5B-326D-C1566736F76D}"/>
              </a:ext>
            </a:extLst>
          </p:cNvPr>
          <p:cNvSpPr/>
          <p:nvPr/>
        </p:nvSpPr>
        <p:spPr>
          <a:xfrm>
            <a:off x="628650" y="3417641"/>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dirty="0">
                <a:solidFill>
                  <a:schemeClr val="tx1">
                    <a:lumMod val="95000"/>
                    <a:lumOff val="5000"/>
                  </a:schemeClr>
                </a:solidFill>
              </a:rPr>
              <a:t>Note: All figures as of June 2024. </a:t>
            </a:r>
          </a:p>
        </p:txBody>
      </p:sp>
    </p:spTree>
    <p:extLst>
      <p:ext uri="{BB962C8B-B14F-4D97-AF65-F5344CB8AC3E}">
        <p14:creationId xmlns:p14="http://schemas.microsoft.com/office/powerpoint/2010/main" val="4205297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34E78-10C2-8D47-367A-4746EA22AB57}"/>
              </a:ext>
            </a:extLst>
          </p:cNvPr>
          <p:cNvSpPr>
            <a:spLocks noGrp="1"/>
          </p:cNvSpPr>
          <p:nvPr>
            <p:ph type="title"/>
          </p:nvPr>
        </p:nvSpPr>
        <p:spPr/>
        <p:txBody>
          <a:bodyPr>
            <a:normAutofit fontScale="90000"/>
          </a:bodyPr>
          <a:lstStyle/>
          <a:p>
            <a:r>
              <a:rPr lang="en-US" dirty="0"/>
              <a:t>EnCap Alpha Analysis</a:t>
            </a:r>
          </a:p>
        </p:txBody>
      </p:sp>
      <p:pic>
        <p:nvPicPr>
          <p:cNvPr id="7" name="Picture 6">
            <a:extLst>
              <a:ext uri="{FF2B5EF4-FFF2-40B4-BE49-F238E27FC236}">
                <a16:creationId xmlns:a16="http://schemas.microsoft.com/office/drawing/2014/main" id="{0E43229A-598B-DDE0-AEB7-4D86D2C0A4B0}"/>
              </a:ext>
            </a:extLst>
          </p:cNvPr>
          <p:cNvPicPr>
            <a:picLocks noChangeAspect="1"/>
          </p:cNvPicPr>
          <p:nvPr/>
        </p:nvPicPr>
        <p:blipFill>
          <a:blip r:embed="rId2"/>
          <a:stretch>
            <a:fillRect/>
          </a:stretch>
        </p:blipFill>
        <p:spPr>
          <a:xfrm>
            <a:off x="536544" y="912975"/>
            <a:ext cx="8070912" cy="2245652"/>
          </a:xfrm>
          <a:prstGeom prst="rect">
            <a:avLst/>
          </a:prstGeom>
        </p:spPr>
      </p:pic>
      <p:sp>
        <p:nvSpPr>
          <p:cNvPr id="3" name="Rectangle 2">
            <a:extLst>
              <a:ext uri="{FF2B5EF4-FFF2-40B4-BE49-F238E27FC236}">
                <a16:creationId xmlns:a16="http://schemas.microsoft.com/office/drawing/2014/main" id="{C0E87279-C47B-D407-54B8-44704C4AA5E8}"/>
              </a:ext>
            </a:extLst>
          </p:cNvPr>
          <p:cNvSpPr/>
          <p:nvPr/>
        </p:nvSpPr>
        <p:spPr>
          <a:xfrm>
            <a:off x="2657474" y="4686300"/>
            <a:ext cx="3286125" cy="754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Benchmark?</a:t>
            </a:r>
          </a:p>
        </p:txBody>
      </p:sp>
    </p:spTree>
    <p:extLst>
      <p:ext uri="{BB962C8B-B14F-4D97-AF65-F5344CB8AC3E}">
        <p14:creationId xmlns:p14="http://schemas.microsoft.com/office/powerpoint/2010/main" val="3594603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7721-F0DB-B1C4-F24B-CD5FC215F422}"/>
              </a:ext>
            </a:extLst>
          </p:cNvPr>
          <p:cNvSpPr>
            <a:spLocks noGrp="1"/>
          </p:cNvSpPr>
          <p:nvPr>
            <p:ph type="title"/>
          </p:nvPr>
        </p:nvSpPr>
        <p:spPr/>
        <p:txBody>
          <a:bodyPr>
            <a:normAutofit fontScale="90000"/>
          </a:bodyPr>
          <a:lstStyle/>
          <a:p>
            <a:r>
              <a:rPr lang="en-US" dirty="0"/>
              <a:t>Batting Average </a:t>
            </a:r>
          </a:p>
        </p:txBody>
      </p:sp>
      <p:graphicFrame>
        <p:nvGraphicFramePr>
          <p:cNvPr id="4" name="Chart 3">
            <a:extLst>
              <a:ext uri="{FF2B5EF4-FFF2-40B4-BE49-F238E27FC236}">
                <a16:creationId xmlns:a16="http://schemas.microsoft.com/office/drawing/2014/main" id="{AAA7A601-CE82-C656-D298-E8560F08A497}"/>
              </a:ext>
            </a:extLst>
          </p:cNvPr>
          <p:cNvGraphicFramePr>
            <a:graphicFrameLocks/>
          </p:cNvGraphicFramePr>
          <p:nvPr>
            <p:extLst>
              <p:ext uri="{D42A27DB-BD31-4B8C-83A1-F6EECF244321}">
                <p14:modId xmlns:p14="http://schemas.microsoft.com/office/powerpoint/2010/main" val="662371793"/>
              </p:ext>
            </p:extLst>
          </p:nvPr>
        </p:nvGraphicFramePr>
        <p:xfrm>
          <a:off x="628650" y="1494944"/>
          <a:ext cx="7886700" cy="423726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DF9CF659-5607-4AC0-A81C-FB27DA7971F5}"/>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i="1" dirty="0">
                <a:solidFill>
                  <a:prstClr val="black"/>
                </a:solidFill>
                <a:latin typeface="Calibri" panose="020F0502020204030204"/>
              </a:rPr>
              <a:t>EnCap’s wins have grown much larger in recent years (since around 2016). </a:t>
            </a:r>
            <a:endParaRPr kumimoji="0" lang="en-US" sz="13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0942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53E0-D48F-C869-1F54-9267C000B2BC}"/>
              </a:ext>
            </a:extLst>
          </p:cNvPr>
          <p:cNvSpPr>
            <a:spLocks noGrp="1"/>
          </p:cNvSpPr>
          <p:nvPr>
            <p:ph type="title"/>
          </p:nvPr>
        </p:nvSpPr>
        <p:spPr/>
        <p:txBody>
          <a:bodyPr>
            <a:normAutofit fontScale="90000"/>
          </a:bodyPr>
          <a:lstStyle/>
          <a:p>
            <a:r>
              <a:rPr lang="en-US" dirty="0"/>
              <a:t>Trailing 20 deals Alpha</a:t>
            </a:r>
          </a:p>
        </p:txBody>
      </p:sp>
      <p:graphicFrame>
        <p:nvGraphicFramePr>
          <p:cNvPr id="4" name="Content Placeholder 3">
            <a:extLst>
              <a:ext uri="{FF2B5EF4-FFF2-40B4-BE49-F238E27FC236}">
                <a16:creationId xmlns:a16="http://schemas.microsoft.com/office/drawing/2014/main" id="{3F33A6BE-F7E8-4DDA-AB2B-C230D6F73651}"/>
              </a:ext>
            </a:extLst>
          </p:cNvPr>
          <p:cNvGraphicFramePr>
            <a:graphicFrameLocks noGrp="1"/>
          </p:cNvGraphicFramePr>
          <p:nvPr>
            <p:ph idx="1"/>
            <p:extLst>
              <p:ext uri="{D42A27DB-BD31-4B8C-83A1-F6EECF244321}">
                <p14:modId xmlns:p14="http://schemas.microsoft.com/office/powerpoint/2010/main" val="1120073281"/>
              </p:ext>
            </p:extLst>
          </p:nvPr>
        </p:nvGraphicFramePr>
        <p:xfrm>
          <a:off x="628650" y="1537583"/>
          <a:ext cx="78867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D801A572-F7F6-658D-0B64-BB735F92C58D}"/>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prstClr val="black"/>
                </a:solidFill>
                <a:effectLst/>
                <a:uLnTx/>
                <a:uFillTx/>
                <a:latin typeface="Calibri" panose="020F0502020204030204"/>
                <a:ea typeface="+mn-ea"/>
                <a:cs typeface="+mn-cs"/>
              </a:rPr>
              <a:t>EnCap’s Alpha generation has been trending upward since 2016.</a:t>
            </a:r>
          </a:p>
        </p:txBody>
      </p:sp>
    </p:spTree>
    <p:extLst>
      <p:ext uri="{BB962C8B-B14F-4D97-AF65-F5344CB8AC3E}">
        <p14:creationId xmlns:p14="http://schemas.microsoft.com/office/powerpoint/2010/main" val="1995215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35926-D450-EC60-14A2-3B76595AE3A0}"/>
              </a:ext>
            </a:extLst>
          </p:cNvPr>
          <p:cNvSpPr>
            <a:spLocks noGrp="1"/>
          </p:cNvSpPr>
          <p:nvPr>
            <p:ph type="title"/>
          </p:nvPr>
        </p:nvSpPr>
        <p:spPr/>
        <p:txBody>
          <a:bodyPr>
            <a:normAutofit fontScale="90000"/>
          </a:bodyPr>
          <a:lstStyle/>
          <a:p>
            <a:r>
              <a:rPr lang="en-US" dirty="0"/>
              <a:t>Trailing 20 deals Win Rate</a:t>
            </a:r>
          </a:p>
        </p:txBody>
      </p:sp>
      <p:graphicFrame>
        <p:nvGraphicFramePr>
          <p:cNvPr id="4" name="Chart 3">
            <a:extLst>
              <a:ext uri="{FF2B5EF4-FFF2-40B4-BE49-F238E27FC236}">
                <a16:creationId xmlns:a16="http://schemas.microsoft.com/office/drawing/2014/main" id="{2FFE07A3-BB69-B255-B794-C341EA2DD7C5}"/>
              </a:ext>
            </a:extLst>
          </p:cNvPr>
          <p:cNvGraphicFramePr>
            <a:graphicFrameLocks/>
          </p:cNvGraphicFramePr>
          <p:nvPr>
            <p:extLst>
              <p:ext uri="{D42A27DB-BD31-4B8C-83A1-F6EECF244321}">
                <p14:modId xmlns:p14="http://schemas.microsoft.com/office/powerpoint/2010/main" val="3366795483"/>
              </p:ext>
            </p:extLst>
          </p:nvPr>
        </p:nvGraphicFramePr>
        <p:xfrm>
          <a:off x="628650" y="1494944"/>
          <a:ext cx="7886700" cy="4080387"/>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B59D0094-B68E-6EBA-5CF8-C3ACA24F0DE7}"/>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prstClr val="black"/>
                </a:solidFill>
                <a:effectLst/>
                <a:uLnTx/>
                <a:uFillTx/>
                <a:latin typeface="Calibri" panose="020F0502020204030204"/>
                <a:ea typeface="+mn-ea"/>
                <a:cs typeface="+mn-cs"/>
              </a:rPr>
              <a:t>EnCap’s win rate has recovered meaningfully from its lows in 2010 and has hit around 80%.</a:t>
            </a:r>
          </a:p>
        </p:txBody>
      </p:sp>
      <p:sp>
        <p:nvSpPr>
          <p:cNvPr id="6" name="Rectangle 5">
            <a:extLst>
              <a:ext uri="{FF2B5EF4-FFF2-40B4-BE49-F238E27FC236}">
                <a16:creationId xmlns:a16="http://schemas.microsoft.com/office/drawing/2014/main" id="{AB70579F-F1BA-1D71-C111-C95CD3CDFD0B}"/>
              </a:ext>
            </a:extLst>
          </p:cNvPr>
          <p:cNvSpPr/>
          <p:nvPr/>
        </p:nvSpPr>
        <p:spPr>
          <a:xfrm>
            <a:off x="628650" y="5575331"/>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dirty="0">
                <a:solidFill>
                  <a:schemeClr val="tx1"/>
                </a:solidFill>
              </a:rPr>
              <a:t>Note: We define a win as an Investment that generated greater then 2.0% alpha.</a:t>
            </a:r>
          </a:p>
        </p:txBody>
      </p:sp>
      <p:sp>
        <p:nvSpPr>
          <p:cNvPr id="3" name="Speech Bubble: Rectangle 2">
            <a:extLst>
              <a:ext uri="{FF2B5EF4-FFF2-40B4-BE49-F238E27FC236}">
                <a16:creationId xmlns:a16="http://schemas.microsoft.com/office/drawing/2014/main" id="{47D00D0D-A2B4-3D63-FFD9-D98459F766F1}"/>
              </a:ext>
            </a:extLst>
          </p:cNvPr>
          <p:cNvSpPr/>
          <p:nvPr/>
        </p:nvSpPr>
        <p:spPr>
          <a:xfrm>
            <a:off x="7110694" y="3018374"/>
            <a:ext cx="1404656" cy="821252"/>
          </a:xfrm>
          <a:prstGeom prst="wedgeRectCallout">
            <a:avLst>
              <a:gd name="adj1" fmla="val 30418"/>
              <a:gd name="adj2" fmla="val -8862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Commentary?</a:t>
            </a:r>
          </a:p>
        </p:txBody>
      </p:sp>
    </p:spTree>
    <p:extLst>
      <p:ext uri="{BB962C8B-B14F-4D97-AF65-F5344CB8AC3E}">
        <p14:creationId xmlns:p14="http://schemas.microsoft.com/office/powerpoint/2010/main" val="3496892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C1E6-16E1-4A5B-3320-4C72D9C0F6B2}"/>
              </a:ext>
            </a:extLst>
          </p:cNvPr>
          <p:cNvSpPr>
            <a:spLocks noGrp="1"/>
          </p:cNvSpPr>
          <p:nvPr>
            <p:ph type="title"/>
          </p:nvPr>
        </p:nvSpPr>
        <p:spPr/>
        <p:txBody>
          <a:bodyPr>
            <a:normAutofit fontScale="90000"/>
          </a:bodyPr>
          <a:lstStyle/>
          <a:p>
            <a:r>
              <a:rPr lang="en-US" dirty="0"/>
              <a:t>PME Analysis</a:t>
            </a:r>
          </a:p>
        </p:txBody>
      </p:sp>
      <p:sp>
        <p:nvSpPr>
          <p:cNvPr id="6" name="Rectangle 5">
            <a:extLst>
              <a:ext uri="{FF2B5EF4-FFF2-40B4-BE49-F238E27FC236}">
                <a16:creationId xmlns:a16="http://schemas.microsoft.com/office/drawing/2014/main" id="{E10542B1-573D-849D-CF53-860CF66D1964}"/>
              </a:ext>
            </a:extLst>
          </p:cNvPr>
          <p:cNvSpPr/>
          <p:nvPr/>
        </p:nvSpPr>
        <p:spPr>
          <a:xfrm>
            <a:off x="726140" y="2391922"/>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dirty="0">
                <a:solidFill>
                  <a:schemeClr val="tx1"/>
                </a:solidFill>
              </a:rPr>
              <a:t>Note: Indices used are Nasdaq 100, S&amp;P 500, and S&amp;P E&amp;P index.</a:t>
            </a:r>
          </a:p>
        </p:txBody>
      </p:sp>
      <p:pic>
        <p:nvPicPr>
          <p:cNvPr id="8" name="Picture 7">
            <a:extLst>
              <a:ext uri="{FF2B5EF4-FFF2-40B4-BE49-F238E27FC236}">
                <a16:creationId xmlns:a16="http://schemas.microsoft.com/office/drawing/2014/main" id="{97343560-8D57-B85A-EB93-B2D6ECB732E5}"/>
              </a:ext>
            </a:extLst>
          </p:cNvPr>
          <p:cNvPicPr>
            <a:picLocks noChangeAspect="1"/>
          </p:cNvPicPr>
          <p:nvPr/>
        </p:nvPicPr>
        <p:blipFill>
          <a:blip r:embed="rId2"/>
          <a:stretch>
            <a:fillRect/>
          </a:stretch>
        </p:blipFill>
        <p:spPr>
          <a:xfrm>
            <a:off x="667235" y="881154"/>
            <a:ext cx="7750624" cy="1510768"/>
          </a:xfrm>
          <a:prstGeom prst="rect">
            <a:avLst/>
          </a:prstGeom>
        </p:spPr>
      </p:pic>
    </p:spTree>
    <p:extLst>
      <p:ext uri="{BB962C8B-B14F-4D97-AF65-F5344CB8AC3E}">
        <p14:creationId xmlns:p14="http://schemas.microsoft.com/office/powerpoint/2010/main" val="1148973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068D-7A83-BF7D-2DA0-35805B575BB8}"/>
              </a:ext>
            </a:extLst>
          </p:cNvPr>
          <p:cNvSpPr>
            <a:spLocks noGrp="1"/>
          </p:cNvSpPr>
          <p:nvPr>
            <p:ph type="title"/>
          </p:nvPr>
        </p:nvSpPr>
        <p:spPr/>
        <p:txBody>
          <a:bodyPr>
            <a:normAutofit fontScale="90000"/>
          </a:bodyPr>
          <a:lstStyle/>
          <a:p>
            <a:r>
              <a:rPr lang="en-US" dirty="0"/>
              <a:t>Loss Ratio Analysis</a:t>
            </a:r>
          </a:p>
        </p:txBody>
      </p:sp>
      <p:pic>
        <p:nvPicPr>
          <p:cNvPr id="5" name="Picture 4">
            <a:extLst>
              <a:ext uri="{FF2B5EF4-FFF2-40B4-BE49-F238E27FC236}">
                <a16:creationId xmlns:a16="http://schemas.microsoft.com/office/drawing/2014/main" id="{40E67E9B-BE46-AE9E-8EF9-8C263AD4DA84}"/>
              </a:ext>
            </a:extLst>
          </p:cNvPr>
          <p:cNvPicPr>
            <a:picLocks noChangeAspect="1"/>
          </p:cNvPicPr>
          <p:nvPr/>
        </p:nvPicPr>
        <p:blipFill>
          <a:blip r:embed="rId2"/>
          <a:stretch>
            <a:fillRect/>
          </a:stretch>
        </p:blipFill>
        <p:spPr>
          <a:xfrm>
            <a:off x="557875" y="1012722"/>
            <a:ext cx="8028249" cy="3511431"/>
          </a:xfrm>
          <a:prstGeom prst="rect">
            <a:avLst/>
          </a:prstGeom>
        </p:spPr>
      </p:pic>
    </p:spTree>
    <p:extLst>
      <p:ext uri="{BB962C8B-B14F-4D97-AF65-F5344CB8AC3E}">
        <p14:creationId xmlns:p14="http://schemas.microsoft.com/office/powerpoint/2010/main" val="232680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6C50-F282-4D9F-E087-F86C4653D559}"/>
              </a:ext>
            </a:extLst>
          </p:cNvPr>
          <p:cNvSpPr>
            <a:spLocks noGrp="1"/>
          </p:cNvSpPr>
          <p:nvPr>
            <p:ph type="title"/>
          </p:nvPr>
        </p:nvSpPr>
        <p:spPr/>
        <p:txBody>
          <a:bodyPr>
            <a:normAutofit fontScale="90000"/>
          </a:bodyPr>
          <a:lstStyle/>
          <a:p>
            <a:r>
              <a:rPr lang="en-US" dirty="0"/>
              <a:t>Dispersion of Returns</a:t>
            </a:r>
          </a:p>
        </p:txBody>
      </p:sp>
      <p:graphicFrame>
        <p:nvGraphicFramePr>
          <p:cNvPr id="4" name="Chart 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2451321617"/>
              </p:ext>
            </p:extLst>
          </p:nvPr>
        </p:nvGraphicFramePr>
        <p:xfrm>
          <a:off x="543445" y="1238863"/>
          <a:ext cx="8057109" cy="35551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1276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469AE-3BF1-63C9-654E-8F477AE870BF}"/>
              </a:ext>
            </a:extLst>
          </p:cNvPr>
          <p:cNvSpPr>
            <a:spLocks noGrp="1"/>
          </p:cNvSpPr>
          <p:nvPr>
            <p:ph type="title"/>
          </p:nvPr>
        </p:nvSpPr>
        <p:spPr/>
        <p:txBody>
          <a:bodyPr>
            <a:normAutofit fontScale="90000"/>
          </a:bodyPr>
          <a:lstStyle/>
          <a:p>
            <a:r>
              <a:rPr lang="en-US" dirty="0"/>
              <a:t>Monte Carlo Alpha Analysis</a:t>
            </a:r>
          </a:p>
        </p:txBody>
      </p:sp>
      <p:pic>
        <p:nvPicPr>
          <p:cNvPr id="5" name="Picture 4">
            <a:extLst>
              <a:ext uri="{FF2B5EF4-FFF2-40B4-BE49-F238E27FC236}">
                <a16:creationId xmlns:a16="http://schemas.microsoft.com/office/drawing/2014/main" id="{CA360B49-3B28-C702-4E46-210BEB9484B8}"/>
              </a:ext>
            </a:extLst>
          </p:cNvPr>
          <p:cNvPicPr>
            <a:picLocks noChangeAspect="1"/>
          </p:cNvPicPr>
          <p:nvPr/>
        </p:nvPicPr>
        <p:blipFill>
          <a:blip r:embed="rId2"/>
          <a:stretch>
            <a:fillRect/>
          </a:stretch>
        </p:blipFill>
        <p:spPr>
          <a:xfrm>
            <a:off x="175512" y="1097280"/>
            <a:ext cx="8792976" cy="4518710"/>
          </a:xfrm>
          <a:prstGeom prst="rect">
            <a:avLst/>
          </a:prstGeom>
        </p:spPr>
      </p:pic>
    </p:spTree>
    <p:extLst>
      <p:ext uri="{BB962C8B-B14F-4D97-AF65-F5344CB8AC3E}">
        <p14:creationId xmlns:p14="http://schemas.microsoft.com/office/powerpoint/2010/main" val="25521863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1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BBSettings xmlns="http://schemas.bloomberg.com/settings/1.0">
  <Item name="DocumentId_Charts">{CAD9A756-76E2-4D33-89BF-4DC97116FCB6}</Item>
  <Item xmlns="" name="ShapesMap_Charts">{"{CAD9A756-76E2-4D33-89BF-4DC97116FCB6}":{"265":{},"266":{},"274":{},"275":{},"276":{},"277":{},"278":{},"279":{},"280":{},"283":{},"284":{},"285":{}}}</Item>
</BBSettings>
</file>

<file path=customXml/item3.xml><?xml version="1.0" encoding="utf-8"?>
<p:properties xmlns:p="http://schemas.microsoft.com/office/2006/metadata/properties" xmlns:xsi="http://www.w3.org/2001/XMLSchema-instance" xmlns:pc="http://schemas.microsoft.com/office/infopath/2007/PartnerControls">
  <documentManagement>
    <TaxCatchAll xmlns="bcb6379d-5402-4ed7-9167-0c02804ceeec" xsi:nil="true"/>
    <lcf76f155ced4ddcb4097134ff3c332f xmlns="16c4b767-81a9-4964-9cba-5e0dcfc5f91d">
      <Terms xmlns="http://schemas.microsoft.com/office/infopath/2007/PartnerControls"/>
    </lcf76f155ced4ddcb4097134ff3c332f>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35B04DF9C75CAB4DAB32342A81611457" ma:contentTypeVersion="16" ma:contentTypeDescription="Create a new document." ma:contentTypeScope="" ma:versionID="1eea900a64deb794cdb99b5f2532b621">
  <xsd:schema xmlns:xsd="http://www.w3.org/2001/XMLSchema" xmlns:xs="http://www.w3.org/2001/XMLSchema" xmlns:p="http://schemas.microsoft.com/office/2006/metadata/properties" xmlns:ns2="bcb6379d-5402-4ed7-9167-0c02804ceeec" xmlns:ns3="16c4b767-81a9-4964-9cba-5e0dcfc5f91d" targetNamespace="http://schemas.microsoft.com/office/2006/metadata/properties" ma:root="true" ma:fieldsID="94c870accb11b529575280629ed7135f" ns2:_="" ns3:_="">
    <xsd:import namespace="bcb6379d-5402-4ed7-9167-0c02804ceeec"/>
    <xsd:import namespace="16c4b767-81a9-4964-9cba-5e0dcfc5f91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SearchProperties"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b6379d-5402-4ed7-9167-0c02804ceee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1661289-e8d5-4b89-a0fe-708881da4787}" ma:internalName="TaxCatchAll" ma:showField="CatchAllData" ma:web="bcb6379d-5402-4ed7-9167-0c02804ceee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6c4b767-81a9-4964-9cba-5e0dcfc5f91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b760cb6-fec5-4ee0-ad3b-5c6f6537d75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DataSourceInfo>
  <Id>103</Id>
  <MajorVersion>1</MajorVersion>
  <MinorVersion>0</MinorVersion>
  <DataSourceType>SectionSelectionInfo</DataSourceType>
  <Name>SectionSelectionDs</Name>
  <Description>Internal data source used for selecting/re-ordering ppt 2010 sections in requesters</Description>
  <Filter/>
  <DataFields>
    <TableInfo>
      <Id>200</Id>
      <Name>SectionSelector</Name>
      <Description/>
      <ExpressionString/>
      <FieldType>SectionSelector</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SectionSelector</OriginalName>
      <ValidationMessage/>
      <FieldInfo>
        <Id>300</Id>
        <Name>SectionId</Name>
        <Description/>
        <ExpressionString/>
        <FieldType>System.String</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SectionId</OriginalName>
        <ValidationMessage/>
      </FieldInfo>
      <FieldInfo>
        <Id>301</Id>
        <Name>Include</Name>
        <Description/>
        <ExpressionString/>
        <FieldType>System.Boolean</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Include</OriginalName>
        <ValidationMessage/>
      </FieldInfo>
      <FieldInfo>
        <Id>302</Id>
        <Name>Index</Name>
        <Description/>
        <ExpressionString/>
        <FieldType>System.Int32</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Index</OriginalName>
        <ValidationMessage/>
      </FieldInfo>
      <FieldInfo>
        <Id>303</Id>
        <Name>SelectorId</Name>
        <Description/>
        <ExpressionString/>
        <FieldType>System.String</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SelectorId</OriginalName>
        <ValidationMessage/>
      </FieldInfo>
    </TableInfo>
  </DataFields>
</DataSourceInfo>
</file>

<file path=customXml/item6.xml><?xml version="1.0" encoding="utf-8"?>
<VariableList UniqueId="4ebd37ad-9d40-48e6-9de0-37ddc927db8a" Name="Computed" ContentType="XML" MajorVersion="0" MinorVersion="1" isLocalCopy="False" IsBaseObject="False" DataSourceId="168e62ca-1625-4fe6-b800-774365a459ba" DataSourceMajorVersion="0" DataSourceMinorVersion="1"/>
</file>

<file path=customXml/item7.xml><?xml version="1.0" encoding="utf-8"?>
<DataSourceMapping>
  <Id>e2f4a197-23f3-4efa-9853-67a11ddd4f96</Id>
  <Name>EXPRESSION_VARIABLE_MAPPING</Name>
  <TargetDataSource>aac1371e-3e0a-4ee4-8e39-7e5bf3a5a350</TargetDataSource>
  <SourceType>XML File</SourceType>
  <IsReadOnly>false</IsReadOnly>
  <SalesforceOrganizationId>00000000-0000-0000-0000-000000000000</SalesforceOrganizationId>
  <SalesforceOrganizationName/>
  <SalesforceApiVersion/>
  <Properties/>
  <RawMappings/>
  <DesignTimeProperties/>
</DataSourceMapping>
</file>

<file path=customXml/item8.xml><?xml version="1.0" encoding="utf-8"?>
<VariableListDefinition name="System" displayName="System" id="76994c17-3a52-460b-a2f8-d242b50f6205" isdomainofvalue="False" dataSourceId="aac1371e-3e0a-4ee4-8e39-7e5bf3a5a350"/>
</file>

<file path=customXml/item9.xml><?xml version="1.0" encoding="utf-8"?>
<DataSourceMapping>
  <Id>92db64cb-677b-465d-bcc2-17758258bc32</Id>
  <Name>EXPRESSION_VARIABLE_MAPPING</Name>
  <TargetDataSource>168e62ca-1625-4fe6-b800-774365a459ba</TargetDataSource>
  <SourceType>XML File</SourceType>
  <IsReadOnly>false</IsReadOnly>
  <SalesforceOrganizationId>00000000-0000-0000-0000-000000000000</SalesforceOrganizationId>
  <SalesforceOrganizationName/>
  <SalesforceApiVersion/>
  <Properties/>
  <RawMappings/>
  <DesignTimeProperties/>
</DataSourceMapping>
</file>

<file path=customXml/item10.xml><?xml version="1.0" encoding="utf-8"?>
<SourceDataModel Name="AD_HOC" TargetDataSourceId="ca793be9-ea19-4bf3-b665-8bfeb2e47a1c"/>
</file>

<file path=customXml/item11.xml><?xml version="1.0" encoding="utf-8"?>
<VariableListDefinition name="SectionSelectionDs" displayName="SectionSelectionDs" id="8d1aab53-4bbd-4d85-8c0b-2e1ff3a17b72" isdomainofvalue="False" dataSourceId="103">
  <Variable name="SectionSelector" type="TABLE" dataFieldId="200" isRepeatingTable="True">
    <Variable name="SectionId" type="STRING" dataFieldId="300"/>
    <Variable name="Include" type="BOOL" dataFieldId="301"/>
    <Variable name="Index" type="INTEGER" dataFieldId="302"/>
    <Variable name="SelectorId" type="STRING" dataFieldId="303"/>
  </Variable>
</VariableListDefinition>
</file>

<file path=customXml/item12.xml><?xml version="1.0" encoding="utf-8"?>
<DataSourceMapping>
  <Id>0b4461f8-9bca-45fd-849f-1ddce2b69507</Id>
  <Name>AD_HOC_MAPPING</Name>
  <TargetDataSource>ca793be9-ea19-4bf3-b665-8bfeb2e47a1c</TargetDataSource>
  <SourceType>XML File</SourceType>
  <IsReadOnly>false</IsReadOnly>
  <SalesforceOrganizationId>00000000-0000-0000-0000-000000000000</SalesforceOrganizationId>
  <SalesforceOrganizationName/>
  <SalesforceApiVersion/>
  <Properties>
    <Property Name="RecordSeperator" Value="SampleData/DataRecord"/>
  </Properties>
  <RawMappings/>
  <DesignTimeProperties/>
</DataSourceMapping>
</file>

<file path=customXml/item13.xml><?xml version="1.0" encoding="utf-8"?>
<DataSourceMapping>
  <Id>ccfdd2f7-2699-4e1c-9660-03d966921895</Id>
  <Name/>
  <TargetDataSource>103</TargetDataSource>
  <SourceType/>
  <IsReadOnly>false</IsReadOnly>
  <SalesforceOrganizationId>00000000-0000-0000-0000-000000000000</SalesforceOrganizationId>
  <SalesforceOrganizationName/>
  <SalesforceApiVersion/>
  <Properties/>
  <RawMappings/>
  <DesignTimeProperties/>
</DataSourceMapping>
</file>

<file path=customXml/item14.xml><?xml version="1.0" encoding="utf-8"?>
<VariableList UniqueId="76994c17-3a52-460b-a2f8-d242b50f6205" Name="System" ContentType="XML" MajorVersion="0" MinorVersion="1" isLocalCopy="False" IsBaseObject="False" DataSourceId="aac1371e-3e0a-4ee4-8e39-7e5bf3a5a350" DataSourceMajorVersion="0" DataSourceMinorVersion="1"/>
</file>

<file path=customXml/item15.xml><?xml version="1.0" encoding="utf-8"?>
<AllExternalAdhocVariableMappings/>
</file>

<file path=customXml/item16.xml><?xml version="1.0" encoding="utf-8"?>
<VariableListDefinition name="AD_HOC" displayName="AD_HOC" id="5fe6e5e8-aef3-4837-9b75-1c4a264b1d1e" isdomainofvalue="False" dataSourceId="ca793be9-ea19-4bf3-b665-8bfeb2e47a1c"/>
</file>

<file path=customXml/item17.xml><?xml version="1.0" encoding="utf-8"?>
<DataSourceInfo>
  <Id>ca793be9-ea19-4bf3-b665-8bfeb2e47a1c</Id>
  <MajorVersion>0</MajorVersion>
  <MinorVersion>1</MinorVersion>
  <DataSourceType>Ad_Hoc</DataSourceType>
  <Name>AD_HOC</Name>
  <Description/>
  <Filter/>
  <DataFields/>
</DataSourceInfo>
</file>

<file path=customXml/item18.xml><?xml version="1.0" encoding="utf-8"?>
<VariableList UniqueId="8d1aab53-4bbd-4d85-8c0b-2e1ff3a17b72" Name="SectionSelectionDs" ContentType="XML" MajorVersion="0" MinorVersion="1" isLocalCopy="False" IsBaseObject="False" DataSourceId="103" DataSourceMajorVersion="1" DataSourceMinorVersion="0"/>
</file>

<file path=customXml/item19.xml><?xml version="1.0" encoding="utf-8"?>
<VariableListDefinition name="Computed" displayName="Computed" id="4ebd37ad-9d40-48e6-9de0-37ddc927db8a" isdomainofvalue="False" dataSourceId="168e62ca-1625-4fe6-b800-774365a459ba"/>
</file>

<file path=customXml/item20.xml><?xml version="1.0" encoding="utf-8"?>
<DataSourceInfo>
  <Id>168e62ca-1625-4fe6-b800-774365a459ba</Id>
  <MajorVersion>0</MajorVersion>
  <MinorVersion>1</MinorVersion>
  <DataSourceType>Expression</DataSourceType>
  <Name>Computed</Name>
  <Description/>
  <Filter/>
  <DataFields/>
</DataSourceInfo>
</file>

<file path=customXml/item21.xml><?xml version="1.0" encoding="utf-8"?>
<DataSourceInfo>
  <Id>aac1371e-3e0a-4ee4-8e39-7e5bf3a5a350</Id>
  <MajorVersion>0</MajorVersion>
  <MinorVersion>1</MinorVersion>
  <DataSourceType>System</DataSourceType>
  <Name>System</Name>
  <Description/>
  <Filter/>
  <DataFields/>
</DataSourceInfo>
</file>

<file path=customXml/item22.xml><?xml version="1.0" encoding="utf-8"?>
<VariableListCustXmlRels>
  <VariableListCustXmlRel variableListName="AD_HOC">
    <VariableListDefCustXmlId>{A30A8AFB-5DFA-4DE2-9EE0-F8700CE71C68}</VariableListDefCustXmlId>
    <LibraryMetadataCustXmlId>{61F5D8D9-E171-4E2C-B723-E5A8B1DECF77}</LibraryMetadataCustXmlId>
    <DataSourceInfoCustXmlId>{B9D417B4-01FF-4E15-AB05-7365D312CCC0}</DataSourceInfoCustXmlId>
    <DataSourceMappingCustXmlId>{F9ACD967-EDB4-445A-A609-63699832D135}</DataSourceMappingCustXmlId>
    <SdmcCustXmlId>{8029E4C3-B489-4F17-99F4-6927758F2007}</SdmcCustXmlId>
  </VariableListCustXmlRel>
  <VariableListCustXmlRel variableListName="Computed">
    <VariableListDefCustXmlId>{47E8DD19-586B-41DC-83DA-63E7C5CA1E21}</VariableListDefCustXmlId>
    <LibraryMetadataCustXmlId>{EA987EA8-B0F7-4EDD-934C-ED43FA44C3C3}</LibraryMetadataCustXmlId>
    <DataSourceInfoCustXmlId>{326E5C8C-6B67-4321-A566-FBDD83E130DD}</DataSourceInfoCustXmlId>
    <DataSourceMappingCustXmlId>{8B606BDD-DCE1-41D0-B761-D8084A365140}</DataSourceMappingCustXmlId>
  </VariableListCustXmlRel>
  <VariableListCustXmlRel variableListName="System">
    <VariableListDefCustXmlId>{C153CE69-B021-45B7-9022-AB9460E4705C}</VariableListDefCustXmlId>
    <LibraryMetadataCustXmlId>{38675322-A613-4F1A-BBB1-9388661EEBB2}</LibraryMetadataCustXmlId>
    <DataSourceInfoCustXmlId>{A2403FEE-70CC-4461-9F7D-653B3C7C3A28}</DataSourceInfoCustXmlId>
    <DataSourceMappingCustXmlId>{1ABD5A1E-BC4B-42D3-96C8-71C937886998}</DataSourceMappingCustXmlId>
  </VariableListCustXmlRel>
  <VariableListCustXmlRel variableListName="SectionSelectionDs">
    <VariableListDefCustXmlId>{7A2290AB-4162-4BC3-9837-0F6A77652EE1}</VariableListDefCustXmlId>
    <LibraryMetadataCustXmlId>{7C29CCE9-A2A0-4C06-914F-7424C09F363F}</LibraryMetadataCustXmlId>
    <DataSourceInfoCustXmlId>{AB643CB0-B147-41B9-94E7-AA966B4B54A2}</DataSourceInfoCustXmlId>
    <DataSourceMappingCustXmlId>{C16F2C53-E77B-4DDF-B824-31F0C7AEC8F1}</DataSourceMappingCustXmlId>
  </VariableListCustXmlRel>
</VariableListCustXmlRels>
</file>

<file path=customXml/item23.xml><?xml version="1.0" encoding="utf-8"?>
<VariableList UniqueId="5fe6e5e8-aef3-4837-9b75-1c4a264b1d1e" Name="AD_HOC" ContentType="XML" MajorVersion="0" MinorVersion="1" isLocalCopy="False" IsBaseObject="False" DataSourceId="ca793be9-ea19-4bf3-b665-8bfeb2e47a1c" DataSourceMajorVersion="0" DataSourceMinorVersion="1"/>
</file>

<file path=customXml/itemProps1.xml><?xml version="1.0" encoding="utf-8"?>
<ds:datastoreItem xmlns:ds="http://schemas.openxmlformats.org/officeDocument/2006/customXml" ds:itemID="{A17B1AD0-312E-4405-9692-BD77A0CB4594}">
  <ds:schemaRefs>
    <ds:schemaRef ds:uri="http://schemas.microsoft.com/sharepoint/v3/contenttype/forms"/>
  </ds:schemaRefs>
</ds:datastoreItem>
</file>

<file path=customXml/itemProps2.xml><?xml version="1.0" encoding="utf-8"?>
<ds:datastoreItem xmlns:ds="http://schemas.openxmlformats.org/officeDocument/2006/customXml" ds:itemID="{8599213D-B7E7-471F-83BB-F039BDCD8228}">
  <ds:schemaRefs>
    <ds:schemaRef ds:uri=""/>
    <ds:schemaRef ds:uri="http://schemas.bloomberg.com/settings/1.0"/>
  </ds:schemaRefs>
</ds:datastoreItem>
</file>

<file path=customXml/itemProps3.xml><?xml version="1.0" encoding="utf-8"?>
<ds:datastoreItem xmlns:ds="http://schemas.openxmlformats.org/officeDocument/2006/customXml" ds:itemID="{96C8E6ED-7500-4567-A217-CD8A015F7E85}">
  <ds:schemaRefs>
    <ds:schemaRef ds:uri="16c4b767-81a9-4964-9cba-5e0dcfc5f91d"/>
    <ds:schemaRef ds:uri="bcb6379d-5402-4ed7-9167-0c02804cee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D1A29262-1E7F-45B9-A5F1-3DE9CC6B05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b6379d-5402-4ed7-9167-0c02804ceeec"/>
    <ds:schemaRef ds:uri="16c4b767-81a9-4964-9cba-5e0dcfc5f9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AB643CB0-B147-41B9-94E7-AA966B4B54A2}">
  <ds:schemaRefs/>
</ds:datastoreItem>
</file>

<file path=customXml/itemProps6.xml><?xml version="1.0" encoding="utf-8"?>
<ds:datastoreItem xmlns:ds="http://schemas.openxmlformats.org/officeDocument/2006/customXml" ds:itemID="{EA987EA8-B0F7-4EDD-934C-ED43FA44C3C3}">
  <ds:schemaRefs/>
</ds:datastoreItem>
</file>

<file path=customXml/itemProps7.xml><?xml version="1.0" encoding="utf-8"?>
<ds:datastoreItem xmlns:ds="http://schemas.openxmlformats.org/officeDocument/2006/customXml" ds:itemID="{1ABD5A1E-BC4B-42D3-96C8-71C937886998}">
  <ds:schemaRefs/>
</ds:datastoreItem>
</file>

<file path=customXml/itemProps8.xml><?xml version="1.0" encoding="utf-8"?>
<ds:datastoreItem xmlns:ds="http://schemas.openxmlformats.org/officeDocument/2006/customXml" ds:itemID="{C153CE69-B021-45B7-9022-AB9460E4705C}">
  <ds:schemaRefs/>
</ds:datastoreItem>
</file>

<file path=customXml/itemProps9.xml><?xml version="1.0" encoding="utf-8"?>
<ds:datastoreItem xmlns:ds="http://schemas.openxmlformats.org/officeDocument/2006/customXml" ds:itemID="{8B606BDD-DCE1-41D0-B761-D8084A365140}">
  <ds:schemaRefs/>
</ds:datastoreItem>
</file>

<file path=customXml/itemProps10.xml><?xml version="1.0" encoding="utf-8"?>
<ds:datastoreItem xmlns:ds="http://schemas.openxmlformats.org/officeDocument/2006/customXml" ds:itemID="{8029E4C3-B489-4F17-99F4-6927758F2007}">
  <ds:schemaRefs/>
</ds:datastoreItem>
</file>

<file path=customXml/itemProps11.xml><?xml version="1.0" encoding="utf-8"?>
<ds:datastoreItem xmlns:ds="http://schemas.openxmlformats.org/officeDocument/2006/customXml" ds:itemID="{7A2290AB-4162-4BC3-9837-0F6A77652EE1}">
  <ds:schemaRefs/>
</ds:datastoreItem>
</file>

<file path=customXml/itemProps12.xml><?xml version="1.0" encoding="utf-8"?>
<ds:datastoreItem xmlns:ds="http://schemas.openxmlformats.org/officeDocument/2006/customXml" ds:itemID="{F9ACD967-EDB4-445A-A609-63699832D135}">
  <ds:schemaRefs/>
</ds:datastoreItem>
</file>

<file path=customXml/itemProps13.xml><?xml version="1.0" encoding="utf-8"?>
<ds:datastoreItem xmlns:ds="http://schemas.openxmlformats.org/officeDocument/2006/customXml" ds:itemID="{C16F2C53-E77B-4DDF-B824-31F0C7AEC8F1}">
  <ds:schemaRefs/>
</ds:datastoreItem>
</file>

<file path=customXml/itemProps14.xml><?xml version="1.0" encoding="utf-8"?>
<ds:datastoreItem xmlns:ds="http://schemas.openxmlformats.org/officeDocument/2006/customXml" ds:itemID="{38675322-A613-4F1A-BBB1-9388661EEBB2}">
  <ds:schemaRefs/>
</ds:datastoreItem>
</file>

<file path=customXml/itemProps15.xml><?xml version="1.0" encoding="utf-8"?>
<ds:datastoreItem xmlns:ds="http://schemas.openxmlformats.org/officeDocument/2006/customXml" ds:itemID="{853541D0-0B22-4BD0-A49F-5E1A364150F1}">
  <ds:schemaRefs/>
</ds:datastoreItem>
</file>

<file path=customXml/itemProps16.xml><?xml version="1.0" encoding="utf-8"?>
<ds:datastoreItem xmlns:ds="http://schemas.openxmlformats.org/officeDocument/2006/customXml" ds:itemID="{A30A8AFB-5DFA-4DE2-9EE0-F8700CE71C68}">
  <ds:schemaRefs/>
</ds:datastoreItem>
</file>

<file path=customXml/itemProps17.xml><?xml version="1.0" encoding="utf-8"?>
<ds:datastoreItem xmlns:ds="http://schemas.openxmlformats.org/officeDocument/2006/customXml" ds:itemID="{B9D417B4-01FF-4E15-AB05-7365D312CCC0}">
  <ds:schemaRefs/>
</ds:datastoreItem>
</file>

<file path=customXml/itemProps18.xml><?xml version="1.0" encoding="utf-8"?>
<ds:datastoreItem xmlns:ds="http://schemas.openxmlformats.org/officeDocument/2006/customXml" ds:itemID="{7C29CCE9-A2A0-4C06-914F-7424C09F363F}">
  <ds:schemaRefs/>
</ds:datastoreItem>
</file>

<file path=customXml/itemProps19.xml><?xml version="1.0" encoding="utf-8"?>
<ds:datastoreItem xmlns:ds="http://schemas.openxmlformats.org/officeDocument/2006/customXml" ds:itemID="{47E8DD19-586B-41DC-83DA-63E7C5CA1E21}">
  <ds:schemaRefs/>
</ds:datastoreItem>
</file>

<file path=customXml/itemProps20.xml><?xml version="1.0" encoding="utf-8"?>
<ds:datastoreItem xmlns:ds="http://schemas.openxmlformats.org/officeDocument/2006/customXml" ds:itemID="{326E5C8C-6B67-4321-A566-FBDD83E130DD}">
  <ds:schemaRefs/>
</ds:datastoreItem>
</file>

<file path=customXml/itemProps21.xml><?xml version="1.0" encoding="utf-8"?>
<ds:datastoreItem xmlns:ds="http://schemas.openxmlformats.org/officeDocument/2006/customXml" ds:itemID="{A2403FEE-70CC-4461-9F7D-653B3C7C3A28}">
  <ds:schemaRefs/>
</ds:datastoreItem>
</file>

<file path=customXml/itemProps22.xml><?xml version="1.0" encoding="utf-8"?>
<ds:datastoreItem xmlns:ds="http://schemas.openxmlformats.org/officeDocument/2006/customXml" ds:itemID="{414E9626-4D52-4946-B233-3D761A4F88D3}">
  <ds:schemaRefs/>
</ds:datastoreItem>
</file>

<file path=customXml/itemProps23.xml><?xml version="1.0" encoding="utf-8"?>
<ds:datastoreItem xmlns:ds="http://schemas.openxmlformats.org/officeDocument/2006/customXml" ds:itemID="{61F5D8D9-E171-4E2C-B723-E5A8B1DECF77}">
  <ds:schemaRefs/>
</ds:datastoreItem>
</file>

<file path=docProps/app.xml><?xml version="1.0" encoding="utf-8"?>
<Properties xmlns="http://schemas.openxmlformats.org/officeDocument/2006/extended-properties" xmlns:vt="http://schemas.openxmlformats.org/officeDocument/2006/docPropsVTypes">
  <TotalTime>4870</TotalTime>
  <Words>2029</Words>
  <Application>Microsoft Office PowerPoint</Application>
  <PresentationFormat>On-screen Show (4:3)</PresentationFormat>
  <Paragraphs>168</Paragraphs>
  <Slides>19</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19</vt:i4>
      </vt:variant>
    </vt:vector>
  </HeadingPairs>
  <TitlesOfParts>
    <vt:vector size="29" baseType="lpstr">
      <vt:lpstr>Aptos</vt:lpstr>
      <vt:lpstr>Aptos Narrow</vt:lpstr>
      <vt:lpstr>Arial</vt:lpstr>
      <vt:lpstr>Calibri</vt:lpstr>
      <vt:lpstr>Calibri Light</vt:lpstr>
      <vt:lpstr>Montserrat SemiBold</vt:lpstr>
      <vt:lpstr>Nunito Sans 7pt</vt:lpstr>
      <vt:lpstr>Office Theme</vt:lpstr>
      <vt:lpstr>Office 2013 - 2022 Theme</vt:lpstr>
      <vt:lpstr>1_Office 2013 - 2022 Theme</vt:lpstr>
      <vt:lpstr>Phase II Due Diligence EnCap Upstream Fund XII</vt:lpstr>
      <vt:lpstr>Level 1 Brief: EnCap Investments</vt:lpstr>
      <vt:lpstr>Level 2: EnCap (79%)</vt:lpstr>
      <vt:lpstr>Level 2: EnCap (79%)</vt:lpstr>
      <vt:lpstr>Level 2: EnCap (79%)</vt:lpstr>
      <vt:lpstr>Level 2: EnCap (79%)</vt:lpstr>
      <vt:lpstr>Level 2: EnCap (79%)</vt:lpstr>
      <vt:lpstr>Level 2: EnCap (79%)</vt:lpstr>
      <vt:lpstr>Timeline</vt:lpstr>
      <vt:lpstr>Appendix</vt:lpstr>
      <vt:lpstr>Upstream Track Record</vt:lpstr>
      <vt:lpstr>EnCap Alpha Analysis</vt:lpstr>
      <vt:lpstr>Batting Average </vt:lpstr>
      <vt:lpstr>Trailing 20 deals Alpha</vt:lpstr>
      <vt:lpstr>Trailing 20 deals Win Rate</vt:lpstr>
      <vt:lpstr>PME Analysis</vt:lpstr>
      <vt:lpstr>Loss Ratio Analysis</vt:lpstr>
      <vt:lpstr>Dispersion of Returns</vt:lpstr>
      <vt:lpstr>Monte Carlo Alpha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Clayton Marcelle</dc:creator>
  <cp:lastModifiedBy>Eiraj Sohail</cp:lastModifiedBy>
  <cp:revision>16</cp:revision>
  <cp:lastPrinted>2025-02-13T17:10:08Z</cp:lastPrinted>
  <dcterms:created xsi:type="dcterms:W3CDTF">2023-10-02T01:53:58Z</dcterms:created>
  <dcterms:modified xsi:type="dcterms:W3CDTF">2026-01-18T17:55:30Z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0x01010035B04DF9C75CAB4DAB32342A81611457</vt:lpwstr>
  </property>
  <property fmtid="{D5CDD505-2E9C-101B-9397-08002B2CF9AE}" pid="3" name="MediaServiceImageTags">
    <vt:lpwstr/>
  </property>
</Properties>
</file>